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61"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85" r:id="rId21"/>
    <p:sldId id="277" r:id="rId22"/>
    <p:sldId id="286" r:id="rId23"/>
    <p:sldId id="287" r:id="rId24"/>
    <p:sldId id="278" r:id="rId25"/>
    <p:sldId id="279" r:id="rId26"/>
    <p:sldId id="280" r:id="rId27"/>
    <p:sldId id="281" r:id="rId28"/>
    <p:sldId id="282" r:id="rId29"/>
    <p:sldId id="283" r:id="rId30"/>
    <p:sldId id="284" r:id="rId31"/>
    <p:sldId id="288" r:id="rId32"/>
    <p:sldId id="259" r:id="rId33"/>
  </p:sldIdLst>
  <p:sldSz cx="12192000" cy="6858000"/>
  <p:notesSz cx="6858000" cy="9144000"/>
  <p:embeddedFontLst>
    <p:embeddedFont>
      <p:font typeface="Lato Black" panose="020F0502020204030203" pitchFamily="34" charset="0"/>
      <p:bold r:id="rId35"/>
      <p:boldItalic r:id="rId36"/>
    </p:embeddedFont>
    <p:embeddedFont>
      <p:font typeface="Libre Baskerville" panose="020000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7" d="100"/>
          <a:sy n="77" d="100"/>
        </p:scale>
        <p:origin x="88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BFE6353-5489-3918-8D8A-C5A4924992D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6F51AC6-CB5A-B977-8BB8-C63EE3833C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B77B141-3A8E-07C6-A03E-770FD4B685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6721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1365035-5686-1474-9414-62E62BC7D2C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237E7DB-24C4-2821-9BA2-5721D607364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D1F0754C-7235-6E8E-ED18-0705C1ED93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4481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766A23A-2EEB-AAB3-80BC-CE65410DED0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F6212F4-916A-1E84-3A24-043D80EA7B5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0A488BD-BCDC-48FA-EB8E-6C5863E4E4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5549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739BBC1-34B0-6BA5-F141-2375C7D5043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B152CC1F-1C01-8CA9-2F75-56C112C13E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45E042A-E282-697A-D446-7EA4E4726F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5157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C8F8192-4AB6-7E22-BB11-9079D6B84EF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484EC1C-5697-A432-4559-3F2AFF3ED9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0C140463-5A97-94AF-83DB-731183AF6B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110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F7EE634-F96A-46E1-C4D1-FB8CC0BAF2D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DC17185-1504-17F9-3E95-2D0ECCE596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5926E700-0DEF-8624-592B-17C6CC0414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4281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7FAD2E2-B1D4-7036-17C7-135C1BA6B71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DB379983-2ADF-6722-1EA1-B29432795C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368F453-8F74-15E3-E164-379C044C3D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8690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E714068-96D6-2345-EE8F-D68773E072C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07E9164-8DF4-5194-4DFE-8F75BB84A5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5491CD5C-0F3E-E4FD-A7AF-E777D75646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1380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9AD8BB3-A508-7D73-BDAC-F0CDDF72FF9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4EADAD5-C92D-B5EE-195C-9460463565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FBF7BADD-EDF8-EA85-0208-7E2CEBF039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1398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E6086BA-6035-38B9-240D-A594226450E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AAAF85E-2DE1-ECC3-0078-6AF2052CE2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FF525691-BB7C-49D7-B4D2-FC6890B1D7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6755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7229C6F-C1B2-A7F0-7E8F-4B2E9ED9F0F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1AB49BE-E8C6-52D8-6E40-E6BB841116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53DA454F-E3C9-1B25-088B-3168844C82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481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E240427-5E2E-92DD-4826-172123C94E4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2896A8F-1B5C-EEF8-6D4E-933E07AA83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582F956-207F-B474-8299-0BCDD86A14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75072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0CBE9D4-755F-E70F-C960-D8286CF81DD4}"/>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48022C1-8D2A-2F7B-4CA2-6FDA2106D2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241D38F-6D87-EF28-7869-5268386CBA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8762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3BFA8EB-40BD-450D-58B8-BBE4AB62E39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93AC9CD-E02D-8589-307F-ECB9996FAA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F653F369-4BEE-16DD-3121-74B529CC0A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0872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DDF6C23-6A9B-D46B-0E97-0B90157A6B5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D71F9C0-082E-E0E8-AC32-98217CB11F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48ECC90-5DB3-5C59-1485-9A97F50B05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5885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6CCB264-22B2-17BA-3C65-D477E912004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1DBC40D-C149-D70F-E966-14986FD97C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4D9A10F-16B1-7EAC-5D74-43C6193FB4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12409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1C97BF1-2C62-28E5-F656-4F2C1F37885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8350524-D9F1-6374-C5F9-D5D29AA0DD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3AF80E42-C457-28E0-CC7A-AFB331F49C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1275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0CE25F5-6268-DB0B-0DEF-B08CDC5A533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715E3BC-F08E-F0FA-2274-07A0A3EBD8B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D1B6694-914C-0B07-8474-9D8E549718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7743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80B17B8-ACA7-C182-589E-B685BEFF70B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14EB208-EF3E-0CAC-E80A-C1FDF8E3F2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658270F-7BEE-50B0-86C0-6B96BF3BED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4930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EEBD9F9-CFDC-D347-03B3-A6BC96BDE31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01F4E0F-3A21-63BC-15C8-4628932AAE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686AD18-4A67-56F0-EF34-73BA76782B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19630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2146E88-0C23-699C-0107-BB09660269D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203DDD3-5EFE-EE8A-0174-0D64F7E9AF6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DB8689D8-3B82-523D-9E76-75D9E783DC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5800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A42D950-E176-60E6-90F2-5F63F174C40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A7E4C39-F69C-5CEF-4781-93F1B1324D2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7872BA29-BEB6-6EC9-D82A-48481D6BE7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304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E2932F8-3C8E-43D3-6FD4-6899C4C09F4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7121DF7-BA14-0CB3-98B9-F42597CA68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507572B5-5FB0-79B6-81E2-BE5671451C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4071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42D2424-E1FD-182D-85A9-17488AF1087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DF6C333C-9057-E4F7-9AD6-69AEEA5B3B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33E3D01-9313-4913-371C-BBD0726D2E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5235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4A96658-FC8B-4EF7-56A5-E747B446A40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26E25C2-551F-3E02-ECB3-B94F5ACC23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A1E52F8-5DEA-27B3-7CC0-03B7B48C74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8252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F1A603F-4C58-863A-D6B2-D8B555C6CA5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4EDB8E1-B68E-E55E-CFF9-3C55E9725AE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287B1D7-A6FC-94B6-0A7D-99F0CFF812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25695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AD8E51B-7A92-9CB1-B9A4-603BDA9D4B4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4CF03F7-43B2-825C-59F3-D0F677AB01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6EB7BFD-449B-575C-0B85-51E1807624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7259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FCA6A89-7656-6746-64DD-5418A070C14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4314111-3F9E-91D0-9B89-C8371F013C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4A28B28-7A5C-E395-785F-F10A5019B7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95788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81951"/>
            <a:ext cx="12190815" cy="6694098"/>
          </a:xfrm>
          <a:prstGeom prst="rect">
            <a:avLst/>
          </a:prstGeom>
          <a:noFill/>
          <a:ln>
            <a:noFill/>
          </a:ln>
        </p:spPr>
      </p:pic>
      <p:sp>
        <p:nvSpPr>
          <p:cNvPr id="99" name="Google Shape;99;p1"/>
          <p:cNvSpPr txBox="1"/>
          <p:nvPr/>
        </p:nvSpPr>
        <p:spPr>
          <a:xfrm>
            <a:off x="2393391" y="3862769"/>
            <a:ext cx="7246189" cy="646290"/>
          </a:xfrm>
          <a:prstGeom prst="rect">
            <a:avLst/>
          </a:prstGeom>
          <a:noFill/>
          <a:ln>
            <a:noFill/>
          </a:ln>
        </p:spPr>
        <p:txBody>
          <a:bodyPr spcFirstLastPara="1" wrap="square" lIns="91425" tIns="45700" rIns="91425" bIns="45700" anchor="t" anchorCtr="0">
            <a:spAutoFit/>
          </a:bodyPr>
          <a:lstStyle/>
          <a:p>
            <a:pPr lvl="0" algn="ctr">
              <a:buSzPts val="1800"/>
            </a:pPr>
            <a:r>
              <a:rPr lang="en-US" sz="3600" b="1" dirty="0">
                <a:solidFill>
                  <a:schemeClr val="tx1"/>
                </a:solidFill>
              </a:rPr>
              <a:t>Grocery Store Management </a:t>
            </a:r>
            <a:endParaRPr sz="3600" b="1" i="0" u="none" strike="noStrike" cap="none" dirty="0">
              <a:solidFill>
                <a:schemeClr val="tx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89661" y="1436228"/>
            <a:ext cx="10354259" cy="4154943"/>
          </a:xfrm>
          <a:prstGeom prst="rect">
            <a:avLst/>
          </a:prstGeom>
          <a:noFill/>
          <a:ln>
            <a:noFill/>
          </a:ln>
        </p:spPr>
        <p:txBody>
          <a:bodyPr spcFirstLastPara="1" wrap="square" lIns="91425" tIns="45700" rIns="91425" bIns="45700" anchor="t" anchorCtr="0">
            <a:spAutoFit/>
          </a:bodyPr>
          <a:lstStyle/>
          <a:p>
            <a:r>
              <a:rPr lang="en-US" sz="2400" dirty="0"/>
              <a:t>Kirthi Saloni (</a:t>
            </a:r>
            <a:r>
              <a:rPr lang="en-US" sz="2400" dirty="0" err="1"/>
              <a:t>B.Tech</a:t>
            </a:r>
            <a:r>
              <a:rPr lang="en-US" sz="2400" dirty="0"/>
              <a:t>) </a:t>
            </a:r>
          </a:p>
          <a:p>
            <a:endParaRPr lang="en-US" sz="2400" dirty="0"/>
          </a:p>
          <a:p>
            <a:r>
              <a:rPr lang="en-US" sz="2400" dirty="0"/>
              <a:t>I have always been interested in understanding how data can be used to solve real world problems and support better decision making. I enjoy analyzing information, identifying patterns, and discovering meaningful insights from data. What attracts me most to Data Science is its combination of analytical thinking, programming, and problem solving to create practical solutions.</a:t>
            </a:r>
          </a:p>
          <a:p>
            <a:endParaRPr lang="en-US" sz="2400" dirty="0"/>
          </a:p>
          <a:p>
            <a:r>
              <a:rPr lang="en-US" sz="2200" dirty="0"/>
              <a:t>LinkedIn</a:t>
            </a:r>
            <a:r>
              <a:rPr lang="en-US" sz="2400" dirty="0"/>
              <a:t>: </a:t>
            </a:r>
            <a:r>
              <a:rPr lang="en-US" sz="2000" dirty="0"/>
              <a:t>www.linkedin.com/in/kirthi-saloni</a:t>
            </a:r>
          </a:p>
          <a:p>
            <a:r>
              <a:rPr lang="en-US" sz="2200" dirty="0"/>
              <a:t>GitHub: </a:t>
            </a:r>
            <a:r>
              <a:rPr lang="en-US" sz="2000" dirty="0"/>
              <a:t>https://github.com/kirthisaloni</a:t>
            </a:r>
            <a:endParaRPr sz="2000"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789661" y="734606"/>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US" sz="2400" dirty="0"/>
              <a:t>The main goals of this SQL project are: </a:t>
            </a:r>
          </a:p>
          <a:p>
            <a:pPr marL="25400" lvl="0" indent="0">
              <a:buSzPts val="2400"/>
              <a:buNone/>
            </a:pPr>
            <a:r>
              <a:rPr lang="en-US" sz="2400" dirty="0"/>
              <a:t>● To design and implement a relational database for a grocery store.</a:t>
            </a:r>
          </a:p>
          <a:p>
            <a:pPr marL="25400" lvl="0" indent="0">
              <a:buSzPts val="2400"/>
              <a:buNone/>
            </a:pPr>
            <a:r>
              <a:rPr lang="en-US" sz="2400" dirty="0"/>
              <a:t>● To retrieve and manipulate data using SQL queries.</a:t>
            </a:r>
          </a:p>
          <a:p>
            <a:pPr marL="25400" lvl="0" indent="0">
              <a:buSzPts val="2400"/>
              <a:buNone/>
            </a:pPr>
            <a:r>
              <a:rPr lang="en-US" sz="2400" dirty="0"/>
              <a:t>● To perform data analysis for business insights such as top customers, best-selling products, and revenue trends. </a:t>
            </a:r>
          </a:p>
          <a:p>
            <a:pPr marL="25400" lvl="0" indent="0">
              <a:buSzPts val="2400"/>
              <a:buNone/>
            </a:pPr>
            <a:r>
              <a:rPr lang="en-US" sz="2400" dirty="0"/>
              <a:t>● To practice using joins, aggregations, subqueries, and filtering techniques. </a:t>
            </a:r>
            <a:endParaRPr sz="2400" dirty="0"/>
          </a:p>
        </p:txBody>
      </p:sp>
      <p:sp>
        <p:nvSpPr>
          <p:cNvPr id="2" name="Google Shape;110;p4">
            <a:extLst>
              <a:ext uri="{FF2B5EF4-FFF2-40B4-BE49-F238E27FC236}">
                <a16:creationId xmlns:a16="http://schemas.microsoft.com/office/drawing/2014/main" id="{55768016-E6C0-864F-D41F-235371C721CC}"/>
              </a:ext>
            </a:extLst>
          </p:cNvPr>
          <p:cNvSpPr txBox="1">
            <a:spLocks/>
          </p:cNvSpPr>
          <p:nvPr/>
        </p:nvSpPr>
        <p:spPr>
          <a:xfrm>
            <a:off x="520147" y="326597"/>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b="1" dirty="0">
                <a:solidFill>
                  <a:srgbClr val="FF0000"/>
                </a:solidFill>
              </a:rPr>
              <a:t>Objective of the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A20A52E-C54F-C650-C48C-EE84E8DA0E37}"/>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87C11DC-2243-6B04-C820-522373E54247}"/>
              </a:ext>
            </a:extLst>
          </p:cNvPr>
          <p:cNvSpPr txBox="1">
            <a:spLocks noGrp="1"/>
          </p:cNvSpPr>
          <p:nvPr>
            <p:ph type="title"/>
          </p:nvPr>
        </p:nvSpPr>
        <p:spPr>
          <a:xfrm>
            <a:off x="684880" y="16757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b="1" dirty="0">
                <a:solidFill>
                  <a:srgbClr val="FF0000"/>
                </a:solidFill>
              </a:rPr>
              <a:t>ER diagram</a:t>
            </a:r>
          </a:p>
        </p:txBody>
      </p:sp>
      <p:pic>
        <p:nvPicPr>
          <p:cNvPr id="3" name="Picture 2">
            <a:extLst>
              <a:ext uri="{FF2B5EF4-FFF2-40B4-BE49-F238E27FC236}">
                <a16:creationId xmlns:a16="http://schemas.microsoft.com/office/drawing/2014/main" id="{2BBA7093-C8FA-60DC-19A4-91BE1659D175}"/>
              </a:ext>
            </a:extLst>
          </p:cNvPr>
          <p:cNvPicPr>
            <a:picLocks noChangeAspect="1"/>
          </p:cNvPicPr>
          <p:nvPr/>
        </p:nvPicPr>
        <p:blipFill>
          <a:blip r:embed="rId3"/>
          <a:stretch>
            <a:fillRect/>
          </a:stretch>
        </p:blipFill>
        <p:spPr>
          <a:xfrm>
            <a:off x="1111653" y="1135325"/>
            <a:ext cx="9115712" cy="4973167"/>
          </a:xfrm>
          <a:prstGeom prst="rect">
            <a:avLst/>
          </a:prstGeom>
        </p:spPr>
      </p:pic>
    </p:spTree>
    <p:extLst>
      <p:ext uri="{BB962C8B-B14F-4D97-AF65-F5344CB8AC3E}">
        <p14:creationId xmlns:p14="http://schemas.microsoft.com/office/powerpoint/2010/main" val="1043070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7A05BD2-907E-7755-3870-5D45A007407E}"/>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9BE7CCE9-89E3-B140-B6D6-5BBCAEA76E02}"/>
              </a:ext>
            </a:extLst>
          </p:cNvPr>
          <p:cNvSpPr txBox="1">
            <a:spLocks noGrp="1"/>
          </p:cNvSpPr>
          <p:nvPr>
            <p:ph type="body" idx="1"/>
          </p:nvPr>
        </p:nvSpPr>
        <p:spPr>
          <a:xfrm>
            <a:off x="457199" y="1103243"/>
            <a:ext cx="11241157" cy="5167125"/>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US" sz="3200" b="1" dirty="0"/>
              <a:t>Customer Insights :</a:t>
            </a:r>
          </a:p>
          <a:p>
            <a:pPr marL="539750" lvl="0" indent="-514350">
              <a:buSzPts val="2400"/>
              <a:buAutoNum type="arabicPeriod"/>
            </a:pPr>
            <a:r>
              <a:rPr lang="en-US" dirty="0"/>
              <a:t>How many unique customers have placed orders?</a:t>
            </a:r>
          </a:p>
          <a:p>
            <a:pPr marL="25400" lvl="0" indent="0">
              <a:buSzPts val="2400"/>
              <a:buNone/>
            </a:pPr>
            <a:r>
              <a:rPr lang="en-US" dirty="0"/>
              <a:t>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A large number of unique customers placed orders, indicating strong customer engagement.</a:t>
            </a:r>
          </a:p>
        </p:txBody>
      </p:sp>
      <p:pic>
        <p:nvPicPr>
          <p:cNvPr id="5" name="Picture 4">
            <a:extLst>
              <a:ext uri="{FF2B5EF4-FFF2-40B4-BE49-F238E27FC236}">
                <a16:creationId xmlns:a16="http://schemas.microsoft.com/office/drawing/2014/main" id="{B32516F6-401D-669C-CE01-95E9CE66DC11}"/>
              </a:ext>
            </a:extLst>
          </p:cNvPr>
          <p:cNvPicPr>
            <a:picLocks noChangeAspect="1"/>
          </p:cNvPicPr>
          <p:nvPr/>
        </p:nvPicPr>
        <p:blipFill>
          <a:blip r:embed="rId3"/>
          <a:stretch>
            <a:fillRect/>
          </a:stretch>
        </p:blipFill>
        <p:spPr>
          <a:xfrm>
            <a:off x="944749" y="2512245"/>
            <a:ext cx="5594840" cy="813536"/>
          </a:xfrm>
          <a:prstGeom prst="rect">
            <a:avLst/>
          </a:prstGeom>
        </p:spPr>
      </p:pic>
      <p:pic>
        <p:nvPicPr>
          <p:cNvPr id="7" name="Picture 6">
            <a:extLst>
              <a:ext uri="{FF2B5EF4-FFF2-40B4-BE49-F238E27FC236}">
                <a16:creationId xmlns:a16="http://schemas.microsoft.com/office/drawing/2014/main" id="{70256CA5-74FF-B88E-BD23-341137A2F621}"/>
              </a:ext>
            </a:extLst>
          </p:cNvPr>
          <p:cNvPicPr>
            <a:picLocks noChangeAspect="1"/>
          </p:cNvPicPr>
          <p:nvPr/>
        </p:nvPicPr>
        <p:blipFill>
          <a:blip r:embed="rId4"/>
          <a:stretch>
            <a:fillRect/>
          </a:stretch>
        </p:blipFill>
        <p:spPr>
          <a:xfrm>
            <a:off x="7928730" y="2512245"/>
            <a:ext cx="2716077" cy="1238440"/>
          </a:xfrm>
          <a:prstGeom prst="rect">
            <a:avLst/>
          </a:prstGeom>
        </p:spPr>
      </p:pic>
      <p:sp>
        <p:nvSpPr>
          <p:cNvPr id="2" name="Google Shape;110;p4">
            <a:extLst>
              <a:ext uri="{FF2B5EF4-FFF2-40B4-BE49-F238E27FC236}">
                <a16:creationId xmlns:a16="http://schemas.microsoft.com/office/drawing/2014/main" id="{39085DF6-B457-7A8A-CD6D-DDE5A1B185FD}"/>
              </a:ext>
            </a:extLst>
          </p:cNvPr>
          <p:cNvSpPr txBox="1">
            <a:spLocks/>
          </p:cNvSpPr>
          <p:nvPr/>
        </p:nvSpPr>
        <p:spPr>
          <a:xfrm>
            <a:off x="457199" y="120054"/>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b="1" dirty="0">
                <a:solidFill>
                  <a:srgbClr val="FF0000"/>
                </a:solidFill>
              </a:rPr>
              <a:t>Key Analysis questions</a:t>
            </a:r>
          </a:p>
        </p:txBody>
      </p:sp>
    </p:spTree>
    <p:extLst>
      <p:ext uri="{BB962C8B-B14F-4D97-AF65-F5344CB8AC3E}">
        <p14:creationId xmlns:p14="http://schemas.microsoft.com/office/powerpoint/2010/main" val="408501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3A48FE7-D185-B82E-866E-E26B9CC8EED0}"/>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14C2B6AA-A309-6B97-FC23-D5FE00934804}"/>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2. Which customers have placed the highest number of orders?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A few customers placed significantly more orders, demonstrating strong customer loyalty.</a:t>
            </a:r>
          </a:p>
        </p:txBody>
      </p:sp>
      <p:pic>
        <p:nvPicPr>
          <p:cNvPr id="3" name="Picture 2">
            <a:extLst>
              <a:ext uri="{FF2B5EF4-FFF2-40B4-BE49-F238E27FC236}">
                <a16:creationId xmlns:a16="http://schemas.microsoft.com/office/drawing/2014/main" id="{3A07F40D-C581-2D08-3D80-D43C8206F448}"/>
              </a:ext>
            </a:extLst>
          </p:cNvPr>
          <p:cNvPicPr>
            <a:picLocks noChangeAspect="1"/>
          </p:cNvPicPr>
          <p:nvPr/>
        </p:nvPicPr>
        <p:blipFill>
          <a:blip r:embed="rId3"/>
          <a:stretch>
            <a:fillRect/>
          </a:stretch>
        </p:blipFill>
        <p:spPr>
          <a:xfrm>
            <a:off x="991520" y="1596230"/>
            <a:ext cx="4453691" cy="1976698"/>
          </a:xfrm>
          <a:prstGeom prst="rect">
            <a:avLst/>
          </a:prstGeom>
        </p:spPr>
      </p:pic>
      <p:pic>
        <p:nvPicPr>
          <p:cNvPr id="5" name="Picture 4">
            <a:extLst>
              <a:ext uri="{FF2B5EF4-FFF2-40B4-BE49-F238E27FC236}">
                <a16:creationId xmlns:a16="http://schemas.microsoft.com/office/drawing/2014/main" id="{F56FA359-EC1F-EFEE-BB41-9802FA7842D4}"/>
              </a:ext>
            </a:extLst>
          </p:cNvPr>
          <p:cNvPicPr>
            <a:picLocks noChangeAspect="1"/>
          </p:cNvPicPr>
          <p:nvPr/>
        </p:nvPicPr>
        <p:blipFill>
          <a:blip r:embed="rId4"/>
          <a:stretch>
            <a:fillRect/>
          </a:stretch>
        </p:blipFill>
        <p:spPr>
          <a:xfrm>
            <a:off x="6528282" y="1625643"/>
            <a:ext cx="3082857" cy="1917872"/>
          </a:xfrm>
          <a:prstGeom prst="rect">
            <a:avLst/>
          </a:prstGeom>
        </p:spPr>
      </p:pic>
    </p:spTree>
    <p:extLst>
      <p:ext uri="{BB962C8B-B14F-4D97-AF65-F5344CB8AC3E}">
        <p14:creationId xmlns:p14="http://schemas.microsoft.com/office/powerpoint/2010/main" val="300487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A24242F-1DC5-0FDF-BBFC-52A03231CB0C}"/>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74542A26-CCEC-3B96-7628-3CACD20385FA}"/>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3. What is the total and average purchase value per customer?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Customer spending varies, with some customers contributing higher purchase values than others.</a:t>
            </a:r>
          </a:p>
        </p:txBody>
      </p:sp>
      <p:pic>
        <p:nvPicPr>
          <p:cNvPr id="4" name="Picture 3">
            <a:extLst>
              <a:ext uri="{FF2B5EF4-FFF2-40B4-BE49-F238E27FC236}">
                <a16:creationId xmlns:a16="http://schemas.microsoft.com/office/drawing/2014/main" id="{A0BBFF6F-CBE9-0C74-303D-57BC5304FE94}"/>
              </a:ext>
            </a:extLst>
          </p:cNvPr>
          <p:cNvPicPr>
            <a:picLocks noChangeAspect="1"/>
          </p:cNvPicPr>
          <p:nvPr/>
        </p:nvPicPr>
        <p:blipFill>
          <a:blip r:embed="rId3"/>
          <a:stretch>
            <a:fillRect/>
          </a:stretch>
        </p:blipFill>
        <p:spPr>
          <a:xfrm>
            <a:off x="794658" y="1298521"/>
            <a:ext cx="6333505" cy="2598069"/>
          </a:xfrm>
          <a:prstGeom prst="rect">
            <a:avLst/>
          </a:prstGeom>
        </p:spPr>
      </p:pic>
      <p:pic>
        <p:nvPicPr>
          <p:cNvPr id="7" name="Picture 6">
            <a:extLst>
              <a:ext uri="{FF2B5EF4-FFF2-40B4-BE49-F238E27FC236}">
                <a16:creationId xmlns:a16="http://schemas.microsoft.com/office/drawing/2014/main" id="{A19B1E3B-CC32-08B4-3EC2-15DC413AB933}"/>
              </a:ext>
            </a:extLst>
          </p:cNvPr>
          <p:cNvPicPr>
            <a:picLocks noChangeAspect="1"/>
          </p:cNvPicPr>
          <p:nvPr/>
        </p:nvPicPr>
        <p:blipFill>
          <a:blip r:embed="rId4"/>
          <a:stretch>
            <a:fillRect/>
          </a:stretch>
        </p:blipFill>
        <p:spPr>
          <a:xfrm>
            <a:off x="7614603" y="1298522"/>
            <a:ext cx="2821930" cy="2734368"/>
          </a:xfrm>
          <a:prstGeom prst="rect">
            <a:avLst/>
          </a:prstGeom>
        </p:spPr>
      </p:pic>
    </p:spTree>
    <p:extLst>
      <p:ext uri="{BB962C8B-B14F-4D97-AF65-F5344CB8AC3E}">
        <p14:creationId xmlns:p14="http://schemas.microsoft.com/office/powerpoint/2010/main" val="838528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1811CB4-B965-3A28-9968-327B58E75BFA}"/>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89072141-FE3B-95AD-D85D-93138B8BA78F}"/>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4. Who are the top 5 customers by total purchase amount?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The top 5 customers generated a significant portion of the store's total revenue.</a:t>
            </a:r>
          </a:p>
        </p:txBody>
      </p:sp>
      <p:pic>
        <p:nvPicPr>
          <p:cNvPr id="3" name="Picture 2">
            <a:extLst>
              <a:ext uri="{FF2B5EF4-FFF2-40B4-BE49-F238E27FC236}">
                <a16:creationId xmlns:a16="http://schemas.microsoft.com/office/drawing/2014/main" id="{680972B2-447C-2D25-6596-E84D037AED7B}"/>
              </a:ext>
            </a:extLst>
          </p:cNvPr>
          <p:cNvPicPr>
            <a:picLocks noChangeAspect="1"/>
          </p:cNvPicPr>
          <p:nvPr/>
        </p:nvPicPr>
        <p:blipFill>
          <a:blip r:embed="rId3"/>
          <a:stretch>
            <a:fillRect/>
          </a:stretch>
        </p:blipFill>
        <p:spPr>
          <a:xfrm>
            <a:off x="986274" y="1514582"/>
            <a:ext cx="4936544" cy="2444353"/>
          </a:xfrm>
          <a:prstGeom prst="rect">
            <a:avLst/>
          </a:prstGeom>
        </p:spPr>
      </p:pic>
      <p:pic>
        <p:nvPicPr>
          <p:cNvPr id="6" name="Picture 5">
            <a:extLst>
              <a:ext uri="{FF2B5EF4-FFF2-40B4-BE49-F238E27FC236}">
                <a16:creationId xmlns:a16="http://schemas.microsoft.com/office/drawing/2014/main" id="{94795692-8948-0310-B44F-24382D121458}"/>
              </a:ext>
            </a:extLst>
          </p:cNvPr>
          <p:cNvPicPr>
            <a:picLocks noChangeAspect="1"/>
          </p:cNvPicPr>
          <p:nvPr/>
        </p:nvPicPr>
        <p:blipFill>
          <a:blip r:embed="rId4"/>
          <a:stretch>
            <a:fillRect/>
          </a:stretch>
        </p:blipFill>
        <p:spPr>
          <a:xfrm>
            <a:off x="7335982" y="1634091"/>
            <a:ext cx="2612074" cy="2324844"/>
          </a:xfrm>
          <a:prstGeom prst="rect">
            <a:avLst/>
          </a:prstGeom>
        </p:spPr>
      </p:pic>
    </p:spTree>
    <p:extLst>
      <p:ext uri="{BB962C8B-B14F-4D97-AF65-F5344CB8AC3E}">
        <p14:creationId xmlns:p14="http://schemas.microsoft.com/office/powerpoint/2010/main" val="1960784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6679898-22B1-4688-5A97-0DB48CF6C179}"/>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5CEEDAE0-6613-BBA0-A174-58CAEFF42839}"/>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US" sz="3200" b="1" dirty="0"/>
              <a:t>Product Performance</a:t>
            </a:r>
          </a:p>
          <a:p>
            <a:pPr marL="25400" lvl="0" indent="0">
              <a:buSzPts val="2400"/>
              <a:buNone/>
            </a:pPr>
            <a:r>
              <a:rPr lang="en-US" dirty="0"/>
              <a:t>1. How many products exist in each category?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The above code shows the distribution of products across different categories.</a:t>
            </a:r>
          </a:p>
        </p:txBody>
      </p:sp>
      <p:pic>
        <p:nvPicPr>
          <p:cNvPr id="4" name="Picture 3">
            <a:extLst>
              <a:ext uri="{FF2B5EF4-FFF2-40B4-BE49-F238E27FC236}">
                <a16:creationId xmlns:a16="http://schemas.microsoft.com/office/drawing/2014/main" id="{26642CB4-657B-2C40-CFF6-B92389BD3866}"/>
              </a:ext>
            </a:extLst>
          </p:cNvPr>
          <p:cNvPicPr>
            <a:picLocks noChangeAspect="1"/>
          </p:cNvPicPr>
          <p:nvPr/>
        </p:nvPicPr>
        <p:blipFill>
          <a:blip r:embed="rId3"/>
          <a:stretch>
            <a:fillRect/>
          </a:stretch>
        </p:blipFill>
        <p:spPr>
          <a:xfrm>
            <a:off x="1008725" y="1452151"/>
            <a:ext cx="4269128" cy="2397953"/>
          </a:xfrm>
          <a:prstGeom prst="rect">
            <a:avLst/>
          </a:prstGeom>
        </p:spPr>
      </p:pic>
      <p:pic>
        <p:nvPicPr>
          <p:cNvPr id="7" name="Picture 6">
            <a:extLst>
              <a:ext uri="{FF2B5EF4-FFF2-40B4-BE49-F238E27FC236}">
                <a16:creationId xmlns:a16="http://schemas.microsoft.com/office/drawing/2014/main" id="{9C02D135-5270-BD3D-7B85-638588FF7A79}"/>
              </a:ext>
            </a:extLst>
          </p:cNvPr>
          <p:cNvPicPr>
            <a:picLocks noChangeAspect="1"/>
          </p:cNvPicPr>
          <p:nvPr/>
        </p:nvPicPr>
        <p:blipFill>
          <a:blip r:embed="rId4"/>
          <a:stretch>
            <a:fillRect/>
          </a:stretch>
        </p:blipFill>
        <p:spPr>
          <a:xfrm>
            <a:off x="7026443" y="1570037"/>
            <a:ext cx="4026567" cy="2103605"/>
          </a:xfrm>
          <a:prstGeom prst="rect">
            <a:avLst/>
          </a:prstGeom>
        </p:spPr>
      </p:pic>
    </p:spTree>
    <p:extLst>
      <p:ext uri="{BB962C8B-B14F-4D97-AF65-F5344CB8AC3E}">
        <p14:creationId xmlns:p14="http://schemas.microsoft.com/office/powerpoint/2010/main" val="2838680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85C6F72-8169-B740-70AD-F4570FE02FFB}"/>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ACF7759E-4592-413B-F779-09FAEF35629A}"/>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2. What is the average price of products by category?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Average product prices differ across categories, indicating varied pricing strategies.</a:t>
            </a:r>
          </a:p>
        </p:txBody>
      </p:sp>
      <p:pic>
        <p:nvPicPr>
          <p:cNvPr id="6" name="Picture 5">
            <a:extLst>
              <a:ext uri="{FF2B5EF4-FFF2-40B4-BE49-F238E27FC236}">
                <a16:creationId xmlns:a16="http://schemas.microsoft.com/office/drawing/2014/main" id="{28A7CEC8-1A54-29DD-8826-D75D4BC844AD}"/>
              </a:ext>
            </a:extLst>
          </p:cNvPr>
          <p:cNvPicPr>
            <a:picLocks noChangeAspect="1"/>
          </p:cNvPicPr>
          <p:nvPr/>
        </p:nvPicPr>
        <p:blipFill>
          <a:blip r:embed="rId3"/>
          <a:stretch>
            <a:fillRect/>
          </a:stretch>
        </p:blipFill>
        <p:spPr>
          <a:xfrm>
            <a:off x="930441" y="1668557"/>
            <a:ext cx="4700337" cy="2085472"/>
          </a:xfrm>
          <a:prstGeom prst="rect">
            <a:avLst/>
          </a:prstGeom>
        </p:spPr>
      </p:pic>
      <p:pic>
        <p:nvPicPr>
          <p:cNvPr id="9" name="Picture 8">
            <a:extLst>
              <a:ext uri="{FF2B5EF4-FFF2-40B4-BE49-F238E27FC236}">
                <a16:creationId xmlns:a16="http://schemas.microsoft.com/office/drawing/2014/main" id="{C90E2C86-2C06-B7B4-C610-22D5423F30D7}"/>
              </a:ext>
            </a:extLst>
          </p:cNvPr>
          <p:cNvPicPr>
            <a:picLocks noChangeAspect="1"/>
          </p:cNvPicPr>
          <p:nvPr/>
        </p:nvPicPr>
        <p:blipFill>
          <a:blip r:embed="rId4"/>
          <a:stretch>
            <a:fillRect/>
          </a:stretch>
        </p:blipFill>
        <p:spPr>
          <a:xfrm>
            <a:off x="6870525" y="1732902"/>
            <a:ext cx="3324435" cy="1956782"/>
          </a:xfrm>
          <a:prstGeom prst="rect">
            <a:avLst/>
          </a:prstGeom>
        </p:spPr>
      </p:pic>
    </p:spTree>
    <p:extLst>
      <p:ext uri="{BB962C8B-B14F-4D97-AF65-F5344CB8AC3E}">
        <p14:creationId xmlns:p14="http://schemas.microsoft.com/office/powerpoint/2010/main" val="498850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A2C9E3A-AE80-B02D-7949-9F61896F34FC}"/>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C3EA4A95-09FC-B3E8-DFB0-71FF197DF0EE}"/>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3. Which products have the highest total sales volume (by quantity)?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This code identifies the most frequently purchased products.</a:t>
            </a:r>
          </a:p>
        </p:txBody>
      </p:sp>
      <p:pic>
        <p:nvPicPr>
          <p:cNvPr id="3" name="Picture 2">
            <a:extLst>
              <a:ext uri="{FF2B5EF4-FFF2-40B4-BE49-F238E27FC236}">
                <a16:creationId xmlns:a16="http://schemas.microsoft.com/office/drawing/2014/main" id="{3161106B-7211-23EC-4BFD-BE6C1ED43B7C}"/>
              </a:ext>
            </a:extLst>
          </p:cNvPr>
          <p:cNvPicPr>
            <a:picLocks noChangeAspect="1"/>
          </p:cNvPicPr>
          <p:nvPr/>
        </p:nvPicPr>
        <p:blipFill>
          <a:blip r:embed="rId3"/>
          <a:stretch>
            <a:fillRect/>
          </a:stretch>
        </p:blipFill>
        <p:spPr>
          <a:xfrm>
            <a:off x="771069" y="1508313"/>
            <a:ext cx="5324931" cy="2405960"/>
          </a:xfrm>
          <a:prstGeom prst="rect">
            <a:avLst/>
          </a:prstGeom>
        </p:spPr>
      </p:pic>
      <p:pic>
        <p:nvPicPr>
          <p:cNvPr id="5" name="Picture 4">
            <a:extLst>
              <a:ext uri="{FF2B5EF4-FFF2-40B4-BE49-F238E27FC236}">
                <a16:creationId xmlns:a16="http://schemas.microsoft.com/office/drawing/2014/main" id="{6649B041-FD5A-92D6-8A1A-A4176878A995}"/>
              </a:ext>
            </a:extLst>
          </p:cNvPr>
          <p:cNvPicPr>
            <a:picLocks noChangeAspect="1"/>
          </p:cNvPicPr>
          <p:nvPr/>
        </p:nvPicPr>
        <p:blipFill>
          <a:blip r:embed="rId4"/>
          <a:stretch>
            <a:fillRect/>
          </a:stretch>
        </p:blipFill>
        <p:spPr>
          <a:xfrm>
            <a:off x="7203901" y="1700805"/>
            <a:ext cx="3267283" cy="2085132"/>
          </a:xfrm>
          <a:prstGeom prst="rect">
            <a:avLst/>
          </a:prstGeom>
        </p:spPr>
      </p:pic>
    </p:spTree>
    <p:extLst>
      <p:ext uri="{BB962C8B-B14F-4D97-AF65-F5344CB8AC3E}">
        <p14:creationId xmlns:p14="http://schemas.microsoft.com/office/powerpoint/2010/main" val="2972816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872231D-1081-1CAF-6982-74998CFE8017}"/>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7F241DB4-A3FA-2332-9C93-11C9E3412CA8}"/>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4. What is the total revenue generated by each product?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Revenue is primarily driven by a small number of high performing products.</a:t>
            </a:r>
          </a:p>
        </p:txBody>
      </p:sp>
      <p:pic>
        <p:nvPicPr>
          <p:cNvPr id="4" name="Picture 3">
            <a:extLst>
              <a:ext uri="{FF2B5EF4-FFF2-40B4-BE49-F238E27FC236}">
                <a16:creationId xmlns:a16="http://schemas.microsoft.com/office/drawing/2014/main" id="{16EF5EE7-AA06-12F5-7747-F24C241C29AC}"/>
              </a:ext>
            </a:extLst>
          </p:cNvPr>
          <p:cNvPicPr>
            <a:picLocks noChangeAspect="1"/>
          </p:cNvPicPr>
          <p:nvPr/>
        </p:nvPicPr>
        <p:blipFill>
          <a:blip r:embed="rId3"/>
          <a:stretch>
            <a:fillRect/>
          </a:stretch>
        </p:blipFill>
        <p:spPr>
          <a:xfrm>
            <a:off x="776376" y="1588166"/>
            <a:ext cx="5319624" cy="2566737"/>
          </a:xfrm>
          <a:prstGeom prst="rect">
            <a:avLst/>
          </a:prstGeom>
        </p:spPr>
      </p:pic>
      <p:pic>
        <p:nvPicPr>
          <p:cNvPr id="7" name="Picture 6">
            <a:extLst>
              <a:ext uri="{FF2B5EF4-FFF2-40B4-BE49-F238E27FC236}">
                <a16:creationId xmlns:a16="http://schemas.microsoft.com/office/drawing/2014/main" id="{037A9A14-44B5-F738-B7CA-D8E506FEA3B7}"/>
              </a:ext>
            </a:extLst>
          </p:cNvPr>
          <p:cNvPicPr>
            <a:picLocks noChangeAspect="1"/>
          </p:cNvPicPr>
          <p:nvPr/>
        </p:nvPicPr>
        <p:blipFill>
          <a:blip r:embed="rId4"/>
          <a:stretch>
            <a:fillRect/>
          </a:stretch>
        </p:blipFill>
        <p:spPr>
          <a:xfrm>
            <a:off x="7379369" y="1588167"/>
            <a:ext cx="3384884" cy="2566736"/>
          </a:xfrm>
          <a:prstGeom prst="rect">
            <a:avLst/>
          </a:prstGeom>
        </p:spPr>
      </p:pic>
    </p:spTree>
    <p:extLst>
      <p:ext uri="{BB962C8B-B14F-4D97-AF65-F5344CB8AC3E}">
        <p14:creationId xmlns:p14="http://schemas.microsoft.com/office/powerpoint/2010/main" val="2186653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D8D94BC-F72B-DADB-264F-B19217B83628}"/>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0E1A1147-57AE-7600-08AA-494888D71E01}"/>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5. How do product sales vary by category and supplier?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Sales performance varies across categories and suppliers, with some combinations generating higher revenue.</a:t>
            </a:r>
          </a:p>
        </p:txBody>
      </p:sp>
      <p:pic>
        <p:nvPicPr>
          <p:cNvPr id="3" name="Picture 2">
            <a:extLst>
              <a:ext uri="{FF2B5EF4-FFF2-40B4-BE49-F238E27FC236}">
                <a16:creationId xmlns:a16="http://schemas.microsoft.com/office/drawing/2014/main" id="{69888E12-672D-B187-5571-90EC715D0E66}"/>
              </a:ext>
            </a:extLst>
          </p:cNvPr>
          <p:cNvPicPr>
            <a:picLocks noChangeAspect="1"/>
          </p:cNvPicPr>
          <p:nvPr/>
        </p:nvPicPr>
        <p:blipFill>
          <a:blip r:embed="rId3"/>
          <a:stretch>
            <a:fillRect/>
          </a:stretch>
        </p:blipFill>
        <p:spPr>
          <a:xfrm>
            <a:off x="612913" y="1474186"/>
            <a:ext cx="5354749" cy="2776972"/>
          </a:xfrm>
          <a:prstGeom prst="rect">
            <a:avLst/>
          </a:prstGeom>
        </p:spPr>
      </p:pic>
      <p:pic>
        <p:nvPicPr>
          <p:cNvPr id="6" name="Picture 5">
            <a:extLst>
              <a:ext uri="{FF2B5EF4-FFF2-40B4-BE49-F238E27FC236}">
                <a16:creationId xmlns:a16="http://schemas.microsoft.com/office/drawing/2014/main" id="{62820493-4E00-0398-1931-2FC4BC748211}"/>
              </a:ext>
            </a:extLst>
          </p:cNvPr>
          <p:cNvPicPr>
            <a:picLocks noChangeAspect="1"/>
          </p:cNvPicPr>
          <p:nvPr/>
        </p:nvPicPr>
        <p:blipFill>
          <a:blip r:embed="rId4"/>
          <a:stretch>
            <a:fillRect/>
          </a:stretch>
        </p:blipFill>
        <p:spPr>
          <a:xfrm>
            <a:off x="6753726" y="1474186"/>
            <a:ext cx="4491790" cy="2776972"/>
          </a:xfrm>
          <a:prstGeom prst="rect">
            <a:avLst/>
          </a:prstGeom>
        </p:spPr>
      </p:pic>
    </p:spTree>
    <p:extLst>
      <p:ext uri="{BB962C8B-B14F-4D97-AF65-F5344CB8AC3E}">
        <p14:creationId xmlns:p14="http://schemas.microsoft.com/office/powerpoint/2010/main" val="3914009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3880567-6509-89C5-09AD-67A78DD8BFA2}"/>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4904279D-726B-D4C8-F66B-BBDCC1219A4C}"/>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US" b="1" dirty="0"/>
              <a:t>Sales and Order Trends </a:t>
            </a:r>
          </a:p>
          <a:p>
            <a:pPr marL="25400" lvl="0" indent="0">
              <a:buSzPts val="2400"/>
              <a:buNone/>
            </a:pPr>
            <a:r>
              <a:rPr lang="en-US" dirty="0"/>
              <a:t>1. How many orders have been placed in total?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The store processed a 300 orders, reflecting steady business activity. </a:t>
            </a:r>
          </a:p>
          <a:p>
            <a:pPr marL="25400" lvl="0" indent="0">
              <a:buSzPts val="2400"/>
              <a:buNone/>
            </a:pPr>
            <a:endParaRPr lang="en-US" dirty="0"/>
          </a:p>
        </p:txBody>
      </p:sp>
      <p:pic>
        <p:nvPicPr>
          <p:cNvPr id="4" name="Picture 3">
            <a:extLst>
              <a:ext uri="{FF2B5EF4-FFF2-40B4-BE49-F238E27FC236}">
                <a16:creationId xmlns:a16="http://schemas.microsoft.com/office/drawing/2014/main" id="{DA2A9548-E262-CC39-4F24-F170DB258C8F}"/>
              </a:ext>
            </a:extLst>
          </p:cNvPr>
          <p:cNvPicPr>
            <a:picLocks noChangeAspect="1"/>
          </p:cNvPicPr>
          <p:nvPr/>
        </p:nvPicPr>
        <p:blipFill>
          <a:blip r:embed="rId3"/>
          <a:stretch>
            <a:fillRect/>
          </a:stretch>
        </p:blipFill>
        <p:spPr>
          <a:xfrm>
            <a:off x="1677505" y="1886836"/>
            <a:ext cx="4520150" cy="914478"/>
          </a:xfrm>
          <a:prstGeom prst="rect">
            <a:avLst/>
          </a:prstGeom>
        </p:spPr>
      </p:pic>
      <p:pic>
        <p:nvPicPr>
          <p:cNvPr id="7" name="Picture 6">
            <a:extLst>
              <a:ext uri="{FF2B5EF4-FFF2-40B4-BE49-F238E27FC236}">
                <a16:creationId xmlns:a16="http://schemas.microsoft.com/office/drawing/2014/main" id="{4E5AC399-714B-4717-5A73-0CCA16EB0AB5}"/>
              </a:ext>
            </a:extLst>
          </p:cNvPr>
          <p:cNvPicPr>
            <a:picLocks noChangeAspect="1"/>
          </p:cNvPicPr>
          <p:nvPr/>
        </p:nvPicPr>
        <p:blipFill>
          <a:blip r:embed="rId4"/>
          <a:stretch>
            <a:fillRect/>
          </a:stretch>
        </p:blipFill>
        <p:spPr>
          <a:xfrm>
            <a:off x="8055638" y="1936096"/>
            <a:ext cx="1973179" cy="815958"/>
          </a:xfrm>
          <a:prstGeom prst="rect">
            <a:avLst/>
          </a:prstGeom>
        </p:spPr>
      </p:pic>
    </p:spTree>
    <p:extLst>
      <p:ext uri="{BB962C8B-B14F-4D97-AF65-F5344CB8AC3E}">
        <p14:creationId xmlns:p14="http://schemas.microsoft.com/office/powerpoint/2010/main" val="2641364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AC79A83-AEA8-EDC6-68F1-C345846938A7}"/>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71FBA4EC-4941-7B40-B901-1B2BFDAD0E3B}"/>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2. What is the average value per order?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The average order value indicates consistent customer spending per transaction.</a:t>
            </a:r>
          </a:p>
        </p:txBody>
      </p:sp>
      <p:pic>
        <p:nvPicPr>
          <p:cNvPr id="3" name="Picture 2">
            <a:extLst>
              <a:ext uri="{FF2B5EF4-FFF2-40B4-BE49-F238E27FC236}">
                <a16:creationId xmlns:a16="http://schemas.microsoft.com/office/drawing/2014/main" id="{E4887805-97AC-5F53-277B-C2086B1ABD3F}"/>
              </a:ext>
            </a:extLst>
          </p:cNvPr>
          <p:cNvPicPr>
            <a:picLocks noChangeAspect="1"/>
          </p:cNvPicPr>
          <p:nvPr/>
        </p:nvPicPr>
        <p:blipFill>
          <a:blip r:embed="rId3"/>
          <a:stretch>
            <a:fillRect/>
          </a:stretch>
        </p:blipFill>
        <p:spPr>
          <a:xfrm>
            <a:off x="778639" y="1668379"/>
            <a:ext cx="5515630" cy="1976841"/>
          </a:xfrm>
          <a:prstGeom prst="rect">
            <a:avLst/>
          </a:prstGeom>
        </p:spPr>
      </p:pic>
      <p:pic>
        <p:nvPicPr>
          <p:cNvPr id="6" name="Picture 5">
            <a:extLst>
              <a:ext uri="{FF2B5EF4-FFF2-40B4-BE49-F238E27FC236}">
                <a16:creationId xmlns:a16="http://schemas.microsoft.com/office/drawing/2014/main" id="{BFD84620-9CA6-8E34-3092-48DAF0D1170D}"/>
              </a:ext>
            </a:extLst>
          </p:cNvPr>
          <p:cNvPicPr>
            <a:picLocks noChangeAspect="1"/>
          </p:cNvPicPr>
          <p:nvPr/>
        </p:nvPicPr>
        <p:blipFill>
          <a:blip r:embed="rId4"/>
          <a:stretch>
            <a:fillRect/>
          </a:stretch>
        </p:blipFill>
        <p:spPr>
          <a:xfrm>
            <a:off x="7347284" y="1957137"/>
            <a:ext cx="3657600" cy="1976841"/>
          </a:xfrm>
          <a:prstGeom prst="rect">
            <a:avLst/>
          </a:prstGeom>
        </p:spPr>
      </p:pic>
    </p:spTree>
    <p:extLst>
      <p:ext uri="{BB962C8B-B14F-4D97-AF65-F5344CB8AC3E}">
        <p14:creationId xmlns:p14="http://schemas.microsoft.com/office/powerpoint/2010/main" val="3983898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D24EB16-2BD0-D51E-DA4D-4363B4DECE52}"/>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6929E88A-339F-CC43-E3D5-05F3A5EA93B0}"/>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3. On which dates were the most orders placed?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10</a:t>
            </a:r>
            <a:r>
              <a:rPr lang="en-US" baseline="30000" dirty="0"/>
              <a:t>th</a:t>
            </a:r>
            <a:r>
              <a:rPr lang="en-US" dirty="0"/>
              <a:t> of September and 30</a:t>
            </a:r>
            <a:r>
              <a:rPr lang="en-US" baseline="30000" dirty="0"/>
              <a:t>th </a:t>
            </a:r>
            <a:r>
              <a:rPr lang="en-US" dirty="0"/>
              <a:t> of March have experienced higher order volumes, indicating peak shopping periods.</a:t>
            </a:r>
          </a:p>
        </p:txBody>
      </p:sp>
      <p:pic>
        <p:nvPicPr>
          <p:cNvPr id="4" name="Picture 3">
            <a:extLst>
              <a:ext uri="{FF2B5EF4-FFF2-40B4-BE49-F238E27FC236}">
                <a16:creationId xmlns:a16="http://schemas.microsoft.com/office/drawing/2014/main" id="{6B7D2962-E55D-C478-1289-D3F445B5C542}"/>
              </a:ext>
            </a:extLst>
          </p:cNvPr>
          <p:cNvPicPr>
            <a:picLocks noChangeAspect="1"/>
          </p:cNvPicPr>
          <p:nvPr/>
        </p:nvPicPr>
        <p:blipFill>
          <a:blip r:embed="rId3"/>
          <a:stretch>
            <a:fillRect/>
          </a:stretch>
        </p:blipFill>
        <p:spPr>
          <a:xfrm>
            <a:off x="709202" y="1687792"/>
            <a:ext cx="6063880" cy="1741208"/>
          </a:xfrm>
          <a:prstGeom prst="rect">
            <a:avLst/>
          </a:prstGeom>
        </p:spPr>
      </p:pic>
      <p:pic>
        <p:nvPicPr>
          <p:cNvPr id="7" name="Picture 6">
            <a:extLst>
              <a:ext uri="{FF2B5EF4-FFF2-40B4-BE49-F238E27FC236}">
                <a16:creationId xmlns:a16="http://schemas.microsoft.com/office/drawing/2014/main" id="{F299BA83-AFCE-BDF9-046B-EB035F84B7F3}"/>
              </a:ext>
            </a:extLst>
          </p:cNvPr>
          <p:cNvPicPr>
            <a:picLocks noChangeAspect="1"/>
          </p:cNvPicPr>
          <p:nvPr/>
        </p:nvPicPr>
        <p:blipFill>
          <a:blip r:embed="rId4"/>
          <a:stretch>
            <a:fillRect/>
          </a:stretch>
        </p:blipFill>
        <p:spPr>
          <a:xfrm>
            <a:off x="7163120" y="1687792"/>
            <a:ext cx="3520921" cy="2198447"/>
          </a:xfrm>
          <a:prstGeom prst="rect">
            <a:avLst/>
          </a:prstGeom>
        </p:spPr>
      </p:pic>
    </p:spTree>
    <p:extLst>
      <p:ext uri="{BB962C8B-B14F-4D97-AF65-F5344CB8AC3E}">
        <p14:creationId xmlns:p14="http://schemas.microsoft.com/office/powerpoint/2010/main" val="3974348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7843250-8294-EDA4-D48E-E94545E8B85F}"/>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959550CC-56AD-4237-E9A4-721129B654B7}"/>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4. What are the monthly trends in order volume and revenue?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Order volume and revenue fluctuate across months, suggesting seasonal sales trends.</a:t>
            </a:r>
          </a:p>
        </p:txBody>
      </p:sp>
      <p:pic>
        <p:nvPicPr>
          <p:cNvPr id="3" name="Picture 2">
            <a:extLst>
              <a:ext uri="{FF2B5EF4-FFF2-40B4-BE49-F238E27FC236}">
                <a16:creationId xmlns:a16="http://schemas.microsoft.com/office/drawing/2014/main" id="{EAD59F1F-9E07-FE56-E721-40D0F0974906}"/>
              </a:ext>
            </a:extLst>
          </p:cNvPr>
          <p:cNvPicPr>
            <a:picLocks noChangeAspect="1"/>
          </p:cNvPicPr>
          <p:nvPr/>
        </p:nvPicPr>
        <p:blipFill>
          <a:blip r:embed="rId3"/>
          <a:stretch>
            <a:fillRect/>
          </a:stretch>
        </p:blipFill>
        <p:spPr>
          <a:xfrm>
            <a:off x="612914" y="1374681"/>
            <a:ext cx="5917585" cy="2700382"/>
          </a:xfrm>
          <a:prstGeom prst="rect">
            <a:avLst/>
          </a:prstGeom>
        </p:spPr>
      </p:pic>
      <p:pic>
        <p:nvPicPr>
          <p:cNvPr id="6" name="Picture 5">
            <a:extLst>
              <a:ext uri="{FF2B5EF4-FFF2-40B4-BE49-F238E27FC236}">
                <a16:creationId xmlns:a16="http://schemas.microsoft.com/office/drawing/2014/main" id="{8125B6FF-283E-2093-6C8C-D066DD8FEDA2}"/>
              </a:ext>
            </a:extLst>
          </p:cNvPr>
          <p:cNvPicPr>
            <a:picLocks noChangeAspect="1"/>
          </p:cNvPicPr>
          <p:nvPr/>
        </p:nvPicPr>
        <p:blipFill>
          <a:blip r:embed="rId4"/>
          <a:stretch>
            <a:fillRect/>
          </a:stretch>
        </p:blipFill>
        <p:spPr>
          <a:xfrm>
            <a:off x="6978316" y="1563505"/>
            <a:ext cx="3112167" cy="2322734"/>
          </a:xfrm>
          <a:prstGeom prst="rect">
            <a:avLst/>
          </a:prstGeom>
        </p:spPr>
      </p:pic>
    </p:spTree>
    <p:extLst>
      <p:ext uri="{BB962C8B-B14F-4D97-AF65-F5344CB8AC3E}">
        <p14:creationId xmlns:p14="http://schemas.microsoft.com/office/powerpoint/2010/main" val="1192067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39B52A2-237B-36E0-7AB0-4E132294A69D}"/>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9E6B4D6C-942A-76B2-2CC4-F17E26CFB358}"/>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5. How do order patterns vary across weekdays and weekends?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Customer purchasing behavior differs between weekdays and weekends.</a:t>
            </a:r>
          </a:p>
        </p:txBody>
      </p:sp>
      <p:pic>
        <p:nvPicPr>
          <p:cNvPr id="4" name="Picture 3">
            <a:extLst>
              <a:ext uri="{FF2B5EF4-FFF2-40B4-BE49-F238E27FC236}">
                <a16:creationId xmlns:a16="http://schemas.microsoft.com/office/drawing/2014/main" id="{F3D57477-474D-4DF5-577A-6C1D075535DC}"/>
              </a:ext>
            </a:extLst>
          </p:cNvPr>
          <p:cNvPicPr>
            <a:picLocks noChangeAspect="1"/>
          </p:cNvPicPr>
          <p:nvPr/>
        </p:nvPicPr>
        <p:blipFill>
          <a:blip r:embed="rId3"/>
          <a:stretch>
            <a:fillRect/>
          </a:stretch>
        </p:blipFill>
        <p:spPr>
          <a:xfrm>
            <a:off x="784798" y="1448090"/>
            <a:ext cx="5858637" cy="2984761"/>
          </a:xfrm>
          <a:prstGeom prst="rect">
            <a:avLst/>
          </a:prstGeom>
        </p:spPr>
      </p:pic>
      <p:pic>
        <p:nvPicPr>
          <p:cNvPr id="7" name="Picture 6">
            <a:extLst>
              <a:ext uri="{FF2B5EF4-FFF2-40B4-BE49-F238E27FC236}">
                <a16:creationId xmlns:a16="http://schemas.microsoft.com/office/drawing/2014/main" id="{D4CEBAA9-B1C7-EE39-A0FB-CC3081723E7D}"/>
              </a:ext>
            </a:extLst>
          </p:cNvPr>
          <p:cNvPicPr>
            <a:picLocks noChangeAspect="1"/>
          </p:cNvPicPr>
          <p:nvPr/>
        </p:nvPicPr>
        <p:blipFill>
          <a:blip r:embed="rId4"/>
          <a:stretch>
            <a:fillRect/>
          </a:stretch>
        </p:blipFill>
        <p:spPr>
          <a:xfrm>
            <a:off x="7036904" y="1895761"/>
            <a:ext cx="3880105" cy="1652509"/>
          </a:xfrm>
          <a:prstGeom prst="rect">
            <a:avLst/>
          </a:prstGeom>
        </p:spPr>
      </p:pic>
    </p:spTree>
    <p:extLst>
      <p:ext uri="{BB962C8B-B14F-4D97-AF65-F5344CB8AC3E}">
        <p14:creationId xmlns:p14="http://schemas.microsoft.com/office/powerpoint/2010/main" val="3062522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DEEE61C-395A-59D2-A8A6-64EFAD4AB358}"/>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60C3E48E-D004-1392-DF2C-950B331CF511}"/>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US" sz="3200" b="1" dirty="0"/>
              <a:t>Supplier Contribution</a:t>
            </a:r>
          </a:p>
          <a:p>
            <a:pPr marL="25400" lvl="0" indent="0">
              <a:buSzPts val="2400"/>
              <a:buNone/>
            </a:pPr>
            <a:r>
              <a:rPr lang="en-US" dirty="0"/>
              <a:t>1. How many suppliers are there in the database?	</a:t>
            </a:r>
          </a:p>
          <a:p>
            <a:pPr marL="25400" lvl="0" indent="0">
              <a:buSzPts val="2400"/>
              <a:buNone/>
            </a:pPr>
            <a:endParaRPr lang="en-US" dirty="0"/>
          </a:p>
          <a:p>
            <a:pPr marL="25400" lvl="0" indent="0">
              <a:buSzPts val="2400"/>
              <a:buNone/>
            </a:pPr>
            <a:endParaRPr lang="en-US" dirty="0"/>
          </a:p>
          <a:p>
            <a:pPr marL="25400" lvl="0" indent="0">
              <a:buSzPts val="2400"/>
              <a:buNone/>
            </a:pPr>
            <a:br>
              <a:rPr lang="en-US" dirty="0"/>
            </a:br>
            <a:endParaRPr lang="en-US" dirty="0"/>
          </a:p>
          <a:p>
            <a:pPr marL="25400" lvl="0" indent="0">
              <a:buSzPts val="2400"/>
              <a:buNone/>
            </a:pPr>
            <a:r>
              <a:rPr lang="en-US" dirty="0"/>
              <a:t>The store works with multiple suppliers, ensuring a diverse product supply. There are total 5 suppliers in the database</a:t>
            </a:r>
          </a:p>
          <a:p>
            <a:pPr marL="25400" lvl="0" indent="0">
              <a:buSzPts val="2400"/>
              <a:buNone/>
            </a:pPr>
            <a:endParaRPr lang="en-US" dirty="0"/>
          </a:p>
          <a:p>
            <a:pPr marL="25400" lvl="0" indent="0">
              <a:buSzPts val="2400"/>
              <a:buNone/>
            </a:pPr>
            <a:endParaRPr lang="en-US" dirty="0"/>
          </a:p>
        </p:txBody>
      </p:sp>
      <p:pic>
        <p:nvPicPr>
          <p:cNvPr id="3" name="Picture 2">
            <a:extLst>
              <a:ext uri="{FF2B5EF4-FFF2-40B4-BE49-F238E27FC236}">
                <a16:creationId xmlns:a16="http://schemas.microsoft.com/office/drawing/2014/main" id="{5472CF9B-4BAE-0CBA-322F-3305D286C1B3}"/>
              </a:ext>
            </a:extLst>
          </p:cNvPr>
          <p:cNvPicPr>
            <a:picLocks noChangeAspect="1"/>
          </p:cNvPicPr>
          <p:nvPr/>
        </p:nvPicPr>
        <p:blipFill>
          <a:blip r:embed="rId3"/>
          <a:stretch>
            <a:fillRect/>
          </a:stretch>
        </p:blipFill>
        <p:spPr>
          <a:xfrm>
            <a:off x="1128736" y="1757663"/>
            <a:ext cx="5854063" cy="1083366"/>
          </a:xfrm>
          <a:prstGeom prst="rect">
            <a:avLst/>
          </a:prstGeom>
        </p:spPr>
      </p:pic>
      <p:pic>
        <p:nvPicPr>
          <p:cNvPr id="6" name="Picture 5">
            <a:extLst>
              <a:ext uri="{FF2B5EF4-FFF2-40B4-BE49-F238E27FC236}">
                <a16:creationId xmlns:a16="http://schemas.microsoft.com/office/drawing/2014/main" id="{CBF36124-DF6B-7A11-331C-11AA4F247836}"/>
              </a:ext>
            </a:extLst>
          </p:cNvPr>
          <p:cNvPicPr>
            <a:picLocks noChangeAspect="1"/>
          </p:cNvPicPr>
          <p:nvPr/>
        </p:nvPicPr>
        <p:blipFill>
          <a:blip r:embed="rId4"/>
          <a:stretch>
            <a:fillRect/>
          </a:stretch>
        </p:blipFill>
        <p:spPr>
          <a:xfrm>
            <a:off x="8259417" y="1757663"/>
            <a:ext cx="2043051" cy="1083366"/>
          </a:xfrm>
          <a:prstGeom prst="rect">
            <a:avLst/>
          </a:prstGeom>
        </p:spPr>
      </p:pic>
    </p:spTree>
    <p:extLst>
      <p:ext uri="{BB962C8B-B14F-4D97-AF65-F5344CB8AC3E}">
        <p14:creationId xmlns:p14="http://schemas.microsoft.com/office/powerpoint/2010/main" val="4186541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65386BF2-4CB1-22AB-F2A8-47BB344B79A6}"/>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3398B27E-03E2-CD75-8045-8F9AE18EC2AC}"/>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2. Which supplier provides the most products?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Aarya contributes the largest share of products in the inventory.</a:t>
            </a:r>
          </a:p>
        </p:txBody>
      </p:sp>
      <p:pic>
        <p:nvPicPr>
          <p:cNvPr id="9" name="Picture 8">
            <a:extLst>
              <a:ext uri="{FF2B5EF4-FFF2-40B4-BE49-F238E27FC236}">
                <a16:creationId xmlns:a16="http://schemas.microsoft.com/office/drawing/2014/main" id="{ABFCA808-3D7A-A717-A0D0-D91EED800A50}"/>
              </a:ext>
            </a:extLst>
          </p:cNvPr>
          <p:cNvPicPr>
            <a:picLocks noChangeAspect="1"/>
          </p:cNvPicPr>
          <p:nvPr/>
        </p:nvPicPr>
        <p:blipFill>
          <a:blip r:embed="rId3"/>
          <a:stretch>
            <a:fillRect/>
          </a:stretch>
        </p:blipFill>
        <p:spPr>
          <a:xfrm>
            <a:off x="805072" y="1548436"/>
            <a:ext cx="6277857" cy="2405270"/>
          </a:xfrm>
          <a:prstGeom prst="rect">
            <a:avLst/>
          </a:prstGeom>
        </p:spPr>
      </p:pic>
      <p:pic>
        <p:nvPicPr>
          <p:cNvPr id="11" name="Picture 10">
            <a:extLst>
              <a:ext uri="{FF2B5EF4-FFF2-40B4-BE49-F238E27FC236}">
                <a16:creationId xmlns:a16="http://schemas.microsoft.com/office/drawing/2014/main" id="{A8317369-A28F-24F5-2A4C-A54E16F40658}"/>
              </a:ext>
            </a:extLst>
          </p:cNvPr>
          <p:cNvPicPr>
            <a:picLocks noChangeAspect="1"/>
          </p:cNvPicPr>
          <p:nvPr/>
        </p:nvPicPr>
        <p:blipFill>
          <a:blip r:embed="rId4"/>
          <a:stretch>
            <a:fillRect/>
          </a:stretch>
        </p:blipFill>
        <p:spPr>
          <a:xfrm>
            <a:off x="7588710" y="1814724"/>
            <a:ext cx="3166541" cy="2051598"/>
          </a:xfrm>
          <a:prstGeom prst="rect">
            <a:avLst/>
          </a:prstGeom>
        </p:spPr>
      </p:pic>
    </p:spTree>
    <p:extLst>
      <p:ext uri="{BB962C8B-B14F-4D97-AF65-F5344CB8AC3E}">
        <p14:creationId xmlns:p14="http://schemas.microsoft.com/office/powerpoint/2010/main" val="3809243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EE716BF-BBD8-A013-3477-09D0AB4E7C46}"/>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FD9734E4-07A3-E325-D152-F3AF7CB55AEF}"/>
              </a:ext>
            </a:extLst>
          </p:cNvPr>
          <p:cNvSpPr txBox="1">
            <a:spLocks noGrp="1"/>
          </p:cNvSpPr>
          <p:nvPr>
            <p:ph type="body" idx="1"/>
          </p:nvPr>
        </p:nvSpPr>
        <p:spPr>
          <a:xfrm>
            <a:off x="546651" y="198784"/>
            <a:ext cx="11032435" cy="629146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3. What is the average price of products from each supplier?</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Average product prices vary among suppliers based on their product offerings. </a:t>
            </a:r>
          </a:p>
        </p:txBody>
      </p:sp>
      <p:pic>
        <p:nvPicPr>
          <p:cNvPr id="10" name="Picture 9">
            <a:extLst>
              <a:ext uri="{FF2B5EF4-FFF2-40B4-BE49-F238E27FC236}">
                <a16:creationId xmlns:a16="http://schemas.microsoft.com/office/drawing/2014/main" id="{D9C2CCFC-4588-3754-CCCF-01811D570987}"/>
              </a:ext>
            </a:extLst>
          </p:cNvPr>
          <p:cNvPicPr>
            <a:picLocks noChangeAspect="1"/>
          </p:cNvPicPr>
          <p:nvPr/>
        </p:nvPicPr>
        <p:blipFill>
          <a:blip r:embed="rId3"/>
          <a:stretch>
            <a:fillRect/>
          </a:stretch>
        </p:blipFill>
        <p:spPr>
          <a:xfrm>
            <a:off x="7114213" y="1616652"/>
            <a:ext cx="3391449" cy="2143989"/>
          </a:xfrm>
          <a:prstGeom prst="rect">
            <a:avLst/>
          </a:prstGeom>
        </p:spPr>
      </p:pic>
      <p:pic>
        <p:nvPicPr>
          <p:cNvPr id="13" name="Picture 12">
            <a:extLst>
              <a:ext uri="{FF2B5EF4-FFF2-40B4-BE49-F238E27FC236}">
                <a16:creationId xmlns:a16="http://schemas.microsoft.com/office/drawing/2014/main" id="{EC8E3DDD-BEAF-20CA-800B-9CD78C73F585}"/>
              </a:ext>
            </a:extLst>
          </p:cNvPr>
          <p:cNvPicPr>
            <a:picLocks noChangeAspect="1"/>
          </p:cNvPicPr>
          <p:nvPr/>
        </p:nvPicPr>
        <p:blipFill>
          <a:blip r:embed="rId4"/>
          <a:stretch>
            <a:fillRect/>
          </a:stretch>
        </p:blipFill>
        <p:spPr>
          <a:xfrm>
            <a:off x="755375" y="1509467"/>
            <a:ext cx="5468908" cy="2074906"/>
          </a:xfrm>
          <a:prstGeom prst="rect">
            <a:avLst/>
          </a:prstGeom>
        </p:spPr>
      </p:pic>
    </p:spTree>
    <p:extLst>
      <p:ext uri="{BB962C8B-B14F-4D97-AF65-F5344CB8AC3E}">
        <p14:creationId xmlns:p14="http://schemas.microsoft.com/office/powerpoint/2010/main" val="3349173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6C6BFE0-9B3C-30A9-F997-047678D8FE0D}"/>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BA4FF805-EB9C-EE8A-33DD-F50F45127CA6}"/>
              </a:ext>
            </a:extLst>
          </p:cNvPr>
          <p:cNvSpPr txBox="1">
            <a:spLocks noGrp="1"/>
          </p:cNvSpPr>
          <p:nvPr>
            <p:ph type="body" idx="1"/>
          </p:nvPr>
        </p:nvSpPr>
        <p:spPr>
          <a:xfrm>
            <a:off x="546651" y="198784"/>
            <a:ext cx="11032435" cy="629146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4. Which suppliers contribute the most to total product sales </a:t>
            </a:r>
          </a:p>
          <a:p>
            <a:pPr marL="25400" lvl="0" indent="0">
              <a:buSzPts val="2400"/>
              <a:buNone/>
            </a:pPr>
            <a:r>
              <a:rPr lang="en-US" dirty="0"/>
              <a:t>(by revenue)?</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Aarya generate the highest product sales revenue for the store.</a:t>
            </a:r>
          </a:p>
        </p:txBody>
      </p:sp>
      <p:pic>
        <p:nvPicPr>
          <p:cNvPr id="17" name="Picture 16">
            <a:extLst>
              <a:ext uri="{FF2B5EF4-FFF2-40B4-BE49-F238E27FC236}">
                <a16:creationId xmlns:a16="http://schemas.microsoft.com/office/drawing/2014/main" id="{69775DB8-2DEA-24A1-439B-36E18544B2B9}"/>
              </a:ext>
            </a:extLst>
          </p:cNvPr>
          <p:cNvPicPr>
            <a:picLocks noChangeAspect="1"/>
          </p:cNvPicPr>
          <p:nvPr/>
        </p:nvPicPr>
        <p:blipFill>
          <a:blip r:embed="rId3"/>
          <a:stretch>
            <a:fillRect/>
          </a:stretch>
        </p:blipFill>
        <p:spPr>
          <a:xfrm>
            <a:off x="775828" y="1816966"/>
            <a:ext cx="5595154" cy="2230434"/>
          </a:xfrm>
          <a:prstGeom prst="rect">
            <a:avLst/>
          </a:prstGeom>
        </p:spPr>
      </p:pic>
      <p:pic>
        <p:nvPicPr>
          <p:cNvPr id="19" name="Picture 18">
            <a:extLst>
              <a:ext uri="{FF2B5EF4-FFF2-40B4-BE49-F238E27FC236}">
                <a16:creationId xmlns:a16="http://schemas.microsoft.com/office/drawing/2014/main" id="{52A52D5C-022D-CF31-AAA5-0132A72DF378}"/>
              </a:ext>
            </a:extLst>
          </p:cNvPr>
          <p:cNvPicPr>
            <a:picLocks noChangeAspect="1"/>
          </p:cNvPicPr>
          <p:nvPr/>
        </p:nvPicPr>
        <p:blipFill>
          <a:blip r:embed="rId4"/>
          <a:stretch>
            <a:fillRect/>
          </a:stretch>
        </p:blipFill>
        <p:spPr>
          <a:xfrm>
            <a:off x="7446155" y="1955553"/>
            <a:ext cx="3057757" cy="1953259"/>
          </a:xfrm>
          <a:prstGeom prst="rect">
            <a:avLst/>
          </a:prstGeom>
        </p:spPr>
      </p:pic>
    </p:spTree>
    <p:extLst>
      <p:ext uri="{BB962C8B-B14F-4D97-AF65-F5344CB8AC3E}">
        <p14:creationId xmlns:p14="http://schemas.microsoft.com/office/powerpoint/2010/main" val="1284819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4FC8399-28C1-862E-F387-0ADCCC00FCB8}"/>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9838790B-7CFD-EF9A-F085-556FA3E4E081}"/>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US" sz="3200" b="1" dirty="0"/>
              <a:t>Employee Performance</a:t>
            </a:r>
          </a:p>
          <a:p>
            <a:pPr marL="25400" lvl="0" indent="0">
              <a:buSzPts val="2400"/>
              <a:buNone/>
            </a:pPr>
            <a:r>
              <a:rPr lang="en-US" dirty="0"/>
              <a:t>1. How many employees have processed orders?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10 employees have actively participated in processing customer orders.</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p:txBody>
      </p:sp>
      <p:pic>
        <p:nvPicPr>
          <p:cNvPr id="4" name="Picture 3">
            <a:extLst>
              <a:ext uri="{FF2B5EF4-FFF2-40B4-BE49-F238E27FC236}">
                <a16:creationId xmlns:a16="http://schemas.microsoft.com/office/drawing/2014/main" id="{EE24D2CB-141E-6FD1-7D24-894303D3FC1E}"/>
              </a:ext>
            </a:extLst>
          </p:cNvPr>
          <p:cNvPicPr>
            <a:picLocks noChangeAspect="1"/>
          </p:cNvPicPr>
          <p:nvPr/>
        </p:nvPicPr>
        <p:blipFill>
          <a:blip r:embed="rId3"/>
          <a:stretch>
            <a:fillRect/>
          </a:stretch>
        </p:blipFill>
        <p:spPr>
          <a:xfrm>
            <a:off x="705723" y="1507221"/>
            <a:ext cx="6458101" cy="995252"/>
          </a:xfrm>
          <a:prstGeom prst="rect">
            <a:avLst/>
          </a:prstGeom>
        </p:spPr>
      </p:pic>
      <p:pic>
        <p:nvPicPr>
          <p:cNvPr id="7" name="Picture 6">
            <a:extLst>
              <a:ext uri="{FF2B5EF4-FFF2-40B4-BE49-F238E27FC236}">
                <a16:creationId xmlns:a16="http://schemas.microsoft.com/office/drawing/2014/main" id="{5CA8083F-DBFC-446C-5535-FBD67EEB94C0}"/>
              </a:ext>
            </a:extLst>
          </p:cNvPr>
          <p:cNvPicPr>
            <a:picLocks noChangeAspect="1"/>
          </p:cNvPicPr>
          <p:nvPr/>
        </p:nvPicPr>
        <p:blipFill>
          <a:blip r:embed="rId4"/>
          <a:stretch>
            <a:fillRect/>
          </a:stretch>
        </p:blipFill>
        <p:spPr>
          <a:xfrm>
            <a:off x="8070574" y="1387951"/>
            <a:ext cx="2435087" cy="1220405"/>
          </a:xfrm>
          <a:prstGeom prst="rect">
            <a:avLst/>
          </a:prstGeom>
        </p:spPr>
      </p:pic>
    </p:spTree>
    <p:extLst>
      <p:ext uri="{BB962C8B-B14F-4D97-AF65-F5344CB8AC3E}">
        <p14:creationId xmlns:p14="http://schemas.microsoft.com/office/powerpoint/2010/main" val="1469981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0C54CB8-A4D6-9A21-1586-CDC08E245A4C}"/>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A41C9839-8E75-EB9A-9841-0E8EB25A3812}"/>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2. Which employees have handled the most orders?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It Identifies employees with the highest order handling workload.</a:t>
            </a:r>
          </a:p>
        </p:txBody>
      </p:sp>
      <p:pic>
        <p:nvPicPr>
          <p:cNvPr id="10" name="Picture 9">
            <a:extLst>
              <a:ext uri="{FF2B5EF4-FFF2-40B4-BE49-F238E27FC236}">
                <a16:creationId xmlns:a16="http://schemas.microsoft.com/office/drawing/2014/main" id="{CBF38E21-F49E-4D1F-F80A-748E07C2A732}"/>
              </a:ext>
            </a:extLst>
          </p:cNvPr>
          <p:cNvPicPr>
            <a:picLocks noChangeAspect="1"/>
          </p:cNvPicPr>
          <p:nvPr/>
        </p:nvPicPr>
        <p:blipFill>
          <a:blip r:embed="rId3"/>
          <a:stretch>
            <a:fillRect/>
          </a:stretch>
        </p:blipFill>
        <p:spPr>
          <a:xfrm>
            <a:off x="1060175" y="1507221"/>
            <a:ext cx="4913242" cy="2245364"/>
          </a:xfrm>
          <a:prstGeom prst="rect">
            <a:avLst/>
          </a:prstGeom>
        </p:spPr>
      </p:pic>
      <p:pic>
        <p:nvPicPr>
          <p:cNvPr id="13" name="Picture 12">
            <a:extLst>
              <a:ext uri="{FF2B5EF4-FFF2-40B4-BE49-F238E27FC236}">
                <a16:creationId xmlns:a16="http://schemas.microsoft.com/office/drawing/2014/main" id="{0AF3A258-8DE5-31F7-4AAD-8DF34E3FCE46}"/>
              </a:ext>
            </a:extLst>
          </p:cNvPr>
          <p:cNvPicPr>
            <a:picLocks noChangeAspect="1"/>
          </p:cNvPicPr>
          <p:nvPr/>
        </p:nvPicPr>
        <p:blipFill>
          <a:blip r:embed="rId4"/>
          <a:stretch>
            <a:fillRect/>
          </a:stretch>
        </p:blipFill>
        <p:spPr>
          <a:xfrm>
            <a:off x="7185526" y="1507221"/>
            <a:ext cx="2458386" cy="2080805"/>
          </a:xfrm>
          <a:prstGeom prst="rect">
            <a:avLst/>
          </a:prstGeom>
        </p:spPr>
      </p:pic>
    </p:spTree>
    <p:extLst>
      <p:ext uri="{BB962C8B-B14F-4D97-AF65-F5344CB8AC3E}">
        <p14:creationId xmlns:p14="http://schemas.microsoft.com/office/powerpoint/2010/main" val="1112988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61DE723-4C03-F6F1-6968-B575F4A2A49D}"/>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E88428BF-3201-66D2-8C07-04C6A2260E7C}"/>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3. What is the total sales value processed by each employee? </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Employee contributions to total sales vary based on the orders they processed.</a:t>
            </a:r>
          </a:p>
        </p:txBody>
      </p:sp>
      <p:pic>
        <p:nvPicPr>
          <p:cNvPr id="3" name="Picture 2">
            <a:extLst>
              <a:ext uri="{FF2B5EF4-FFF2-40B4-BE49-F238E27FC236}">
                <a16:creationId xmlns:a16="http://schemas.microsoft.com/office/drawing/2014/main" id="{0480A817-6075-DB14-7A80-D273E500CAE0}"/>
              </a:ext>
            </a:extLst>
          </p:cNvPr>
          <p:cNvPicPr>
            <a:picLocks noChangeAspect="1"/>
          </p:cNvPicPr>
          <p:nvPr/>
        </p:nvPicPr>
        <p:blipFill>
          <a:blip r:embed="rId3"/>
          <a:stretch>
            <a:fillRect/>
          </a:stretch>
        </p:blipFill>
        <p:spPr>
          <a:xfrm>
            <a:off x="948922" y="1700813"/>
            <a:ext cx="5758828" cy="2264900"/>
          </a:xfrm>
          <a:prstGeom prst="rect">
            <a:avLst/>
          </a:prstGeom>
        </p:spPr>
      </p:pic>
      <p:pic>
        <p:nvPicPr>
          <p:cNvPr id="6" name="Picture 5">
            <a:extLst>
              <a:ext uri="{FF2B5EF4-FFF2-40B4-BE49-F238E27FC236}">
                <a16:creationId xmlns:a16="http://schemas.microsoft.com/office/drawing/2014/main" id="{33013A60-0257-2254-DCEC-8135D44DB5BA}"/>
              </a:ext>
            </a:extLst>
          </p:cNvPr>
          <p:cNvPicPr>
            <a:picLocks noChangeAspect="1"/>
          </p:cNvPicPr>
          <p:nvPr/>
        </p:nvPicPr>
        <p:blipFill>
          <a:blip r:embed="rId4"/>
          <a:stretch>
            <a:fillRect/>
          </a:stretch>
        </p:blipFill>
        <p:spPr>
          <a:xfrm>
            <a:off x="7638653" y="1826355"/>
            <a:ext cx="2554357" cy="2007705"/>
          </a:xfrm>
          <a:prstGeom prst="rect">
            <a:avLst/>
          </a:prstGeom>
        </p:spPr>
      </p:pic>
    </p:spTree>
    <p:extLst>
      <p:ext uri="{BB962C8B-B14F-4D97-AF65-F5344CB8AC3E}">
        <p14:creationId xmlns:p14="http://schemas.microsoft.com/office/powerpoint/2010/main" val="2128892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7794B20-0829-39C5-A8CD-255103DA761F}"/>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B7311B9D-0B9B-A2B4-61E8-F224EF277563}"/>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4. What is the average order value handled per employee?</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Compares employee performance based on average order value managed.</a:t>
            </a:r>
          </a:p>
          <a:p>
            <a:pPr marL="25400" lvl="0" indent="0">
              <a:buSzPts val="2400"/>
              <a:buNone/>
            </a:pPr>
            <a:endParaRPr lang="en-US" dirty="0"/>
          </a:p>
        </p:txBody>
      </p:sp>
      <p:pic>
        <p:nvPicPr>
          <p:cNvPr id="9" name="Picture 8">
            <a:extLst>
              <a:ext uri="{FF2B5EF4-FFF2-40B4-BE49-F238E27FC236}">
                <a16:creationId xmlns:a16="http://schemas.microsoft.com/office/drawing/2014/main" id="{CB3D8DA4-361C-3F4F-90AE-38C49E554E68}"/>
              </a:ext>
            </a:extLst>
          </p:cNvPr>
          <p:cNvPicPr>
            <a:picLocks noChangeAspect="1"/>
          </p:cNvPicPr>
          <p:nvPr/>
        </p:nvPicPr>
        <p:blipFill>
          <a:blip r:embed="rId3"/>
          <a:stretch>
            <a:fillRect/>
          </a:stretch>
        </p:blipFill>
        <p:spPr>
          <a:xfrm>
            <a:off x="979888" y="1379095"/>
            <a:ext cx="5082980" cy="2248688"/>
          </a:xfrm>
          <a:prstGeom prst="rect">
            <a:avLst/>
          </a:prstGeom>
        </p:spPr>
      </p:pic>
      <p:pic>
        <p:nvPicPr>
          <p:cNvPr id="4" name="Picture 3">
            <a:extLst>
              <a:ext uri="{FF2B5EF4-FFF2-40B4-BE49-F238E27FC236}">
                <a16:creationId xmlns:a16="http://schemas.microsoft.com/office/drawing/2014/main" id="{1005C3CF-DA2E-ED91-A572-64AB71CABFBD}"/>
              </a:ext>
            </a:extLst>
          </p:cNvPr>
          <p:cNvPicPr>
            <a:picLocks noChangeAspect="1"/>
          </p:cNvPicPr>
          <p:nvPr/>
        </p:nvPicPr>
        <p:blipFill>
          <a:blip r:embed="rId4"/>
          <a:stretch>
            <a:fillRect/>
          </a:stretch>
        </p:blipFill>
        <p:spPr>
          <a:xfrm>
            <a:off x="7729709" y="1379095"/>
            <a:ext cx="2169283" cy="2248688"/>
          </a:xfrm>
          <a:prstGeom prst="rect">
            <a:avLst/>
          </a:prstGeom>
        </p:spPr>
      </p:pic>
    </p:spTree>
    <p:extLst>
      <p:ext uri="{BB962C8B-B14F-4D97-AF65-F5344CB8AC3E}">
        <p14:creationId xmlns:p14="http://schemas.microsoft.com/office/powerpoint/2010/main" val="2609320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256E9E2-DD87-A3DE-0417-C17946058B6E}"/>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147245F5-3727-2C35-D490-3BAF1CC07D7C}"/>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r>
              <a:rPr lang="en-US" sz="3200" b="1" dirty="0"/>
              <a:t>Order Details Deep Dive</a:t>
            </a:r>
          </a:p>
          <a:p>
            <a:pPr marL="25400" lvl="0" indent="0">
              <a:buSzPts val="2400"/>
              <a:buNone/>
            </a:pPr>
            <a:r>
              <a:rPr lang="en-US" dirty="0"/>
              <a:t>1. What is the relationship between quantity ordered and total price?</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Higher order quantities generally result in higher total purchase values.</a:t>
            </a:r>
          </a:p>
        </p:txBody>
      </p:sp>
      <p:pic>
        <p:nvPicPr>
          <p:cNvPr id="3" name="Picture 2">
            <a:extLst>
              <a:ext uri="{FF2B5EF4-FFF2-40B4-BE49-F238E27FC236}">
                <a16:creationId xmlns:a16="http://schemas.microsoft.com/office/drawing/2014/main" id="{7F214CD3-747A-8ACF-E86E-E3CA575D0971}"/>
              </a:ext>
            </a:extLst>
          </p:cNvPr>
          <p:cNvPicPr>
            <a:picLocks noChangeAspect="1"/>
          </p:cNvPicPr>
          <p:nvPr/>
        </p:nvPicPr>
        <p:blipFill>
          <a:blip r:embed="rId3"/>
          <a:stretch>
            <a:fillRect/>
          </a:stretch>
        </p:blipFill>
        <p:spPr>
          <a:xfrm>
            <a:off x="1278243" y="1662330"/>
            <a:ext cx="4708565" cy="1634356"/>
          </a:xfrm>
          <a:prstGeom prst="rect">
            <a:avLst/>
          </a:prstGeom>
        </p:spPr>
      </p:pic>
      <p:pic>
        <p:nvPicPr>
          <p:cNvPr id="6" name="Picture 5">
            <a:extLst>
              <a:ext uri="{FF2B5EF4-FFF2-40B4-BE49-F238E27FC236}">
                <a16:creationId xmlns:a16="http://schemas.microsoft.com/office/drawing/2014/main" id="{B46BB255-FEAC-457B-C1BB-193166ECA3B7}"/>
              </a:ext>
            </a:extLst>
          </p:cNvPr>
          <p:cNvPicPr>
            <a:picLocks noChangeAspect="1"/>
          </p:cNvPicPr>
          <p:nvPr/>
        </p:nvPicPr>
        <p:blipFill>
          <a:blip r:embed="rId4"/>
          <a:stretch>
            <a:fillRect/>
          </a:stretch>
        </p:blipFill>
        <p:spPr>
          <a:xfrm>
            <a:off x="7280424" y="1662330"/>
            <a:ext cx="3231936" cy="1497703"/>
          </a:xfrm>
          <a:prstGeom prst="rect">
            <a:avLst/>
          </a:prstGeom>
        </p:spPr>
      </p:pic>
    </p:spTree>
    <p:extLst>
      <p:ext uri="{BB962C8B-B14F-4D97-AF65-F5344CB8AC3E}">
        <p14:creationId xmlns:p14="http://schemas.microsoft.com/office/powerpoint/2010/main" val="1258617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9DC8AA4-F2F9-FC8F-FDF0-C1A9632D7321}"/>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4B447822-FE32-C644-AF52-51A976728AA0}"/>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2. What is the average quantity ordered per product?</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Average order quantities vary across products, indicating different customer demand levels.</a:t>
            </a:r>
          </a:p>
        </p:txBody>
      </p:sp>
      <p:pic>
        <p:nvPicPr>
          <p:cNvPr id="4" name="Picture 3">
            <a:extLst>
              <a:ext uri="{FF2B5EF4-FFF2-40B4-BE49-F238E27FC236}">
                <a16:creationId xmlns:a16="http://schemas.microsoft.com/office/drawing/2014/main" id="{433D4E5C-7C80-772B-1259-3EBA4FFA9BA5}"/>
              </a:ext>
            </a:extLst>
          </p:cNvPr>
          <p:cNvPicPr>
            <a:picLocks noChangeAspect="1"/>
          </p:cNvPicPr>
          <p:nvPr/>
        </p:nvPicPr>
        <p:blipFill>
          <a:blip r:embed="rId3"/>
          <a:stretch>
            <a:fillRect/>
          </a:stretch>
        </p:blipFill>
        <p:spPr>
          <a:xfrm>
            <a:off x="729908" y="1530627"/>
            <a:ext cx="5750406" cy="2126973"/>
          </a:xfrm>
          <a:prstGeom prst="rect">
            <a:avLst/>
          </a:prstGeom>
        </p:spPr>
      </p:pic>
      <p:pic>
        <p:nvPicPr>
          <p:cNvPr id="7" name="Picture 6">
            <a:extLst>
              <a:ext uri="{FF2B5EF4-FFF2-40B4-BE49-F238E27FC236}">
                <a16:creationId xmlns:a16="http://schemas.microsoft.com/office/drawing/2014/main" id="{D5C1B7AD-F274-511F-EE34-6D951F0310DA}"/>
              </a:ext>
            </a:extLst>
          </p:cNvPr>
          <p:cNvPicPr>
            <a:picLocks noChangeAspect="1"/>
          </p:cNvPicPr>
          <p:nvPr/>
        </p:nvPicPr>
        <p:blipFill>
          <a:blip r:embed="rId4"/>
          <a:stretch>
            <a:fillRect/>
          </a:stretch>
        </p:blipFill>
        <p:spPr>
          <a:xfrm>
            <a:off x="7185878" y="1619770"/>
            <a:ext cx="3121000" cy="2037830"/>
          </a:xfrm>
          <a:prstGeom prst="rect">
            <a:avLst/>
          </a:prstGeom>
        </p:spPr>
      </p:pic>
    </p:spTree>
    <p:extLst>
      <p:ext uri="{BB962C8B-B14F-4D97-AF65-F5344CB8AC3E}">
        <p14:creationId xmlns:p14="http://schemas.microsoft.com/office/powerpoint/2010/main" val="3943400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9EDADC7-18F7-62FC-C586-4BA3F0CF5D33}"/>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B9250C12-5CAF-BB29-8C0E-AB1937D9BB53}"/>
              </a:ext>
            </a:extLst>
          </p:cNvPr>
          <p:cNvSpPr txBox="1">
            <a:spLocks noGrp="1"/>
          </p:cNvSpPr>
          <p:nvPr>
            <p:ph type="body" idx="1"/>
          </p:nvPr>
        </p:nvSpPr>
        <p:spPr>
          <a:xfrm>
            <a:off x="546651" y="198784"/>
            <a:ext cx="11032435" cy="5922498"/>
          </a:xfrm>
          <a:prstGeom prst="rect">
            <a:avLst/>
          </a:prstGeom>
          <a:noFill/>
          <a:ln>
            <a:noFill/>
          </a:ln>
        </p:spPr>
        <p:txBody>
          <a:bodyPr spcFirstLastPara="1" wrap="square" lIns="91425" tIns="45700" rIns="91425" bIns="45700" anchor="t" anchorCtr="0">
            <a:normAutofit/>
          </a:bodyPr>
          <a:lstStyle/>
          <a:p>
            <a:pPr marL="25400" lvl="0" indent="0">
              <a:buSzPts val="2400"/>
              <a:buNone/>
            </a:pPr>
            <a:endParaRPr lang="en-US" dirty="0"/>
          </a:p>
          <a:p>
            <a:pPr marL="25400" lvl="0" indent="0">
              <a:buSzPts val="2400"/>
              <a:buNone/>
            </a:pPr>
            <a:r>
              <a:rPr lang="en-US" dirty="0"/>
              <a:t>3. How does the unit price vary across products and orders?</a:t>
            </a:r>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endParaRPr lang="en-US" dirty="0"/>
          </a:p>
          <a:p>
            <a:pPr marL="25400" lvl="0" indent="0">
              <a:buSzPts val="2400"/>
              <a:buNone/>
            </a:pPr>
            <a:r>
              <a:rPr lang="en-US" dirty="0"/>
              <a:t>Unit prices differ across products, reflecting variations in product type and pricing.</a:t>
            </a:r>
          </a:p>
        </p:txBody>
      </p:sp>
      <p:pic>
        <p:nvPicPr>
          <p:cNvPr id="3" name="Picture 2">
            <a:extLst>
              <a:ext uri="{FF2B5EF4-FFF2-40B4-BE49-F238E27FC236}">
                <a16:creationId xmlns:a16="http://schemas.microsoft.com/office/drawing/2014/main" id="{33174676-AD74-6040-0B13-D67C6C948CFB}"/>
              </a:ext>
            </a:extLst>
          </p:cNvPr>
          <p:cNvPicPr>
            <a:picLocks noChangeAspect="1"/>
          </p:cNvPicPr>
          <p:nvPr/>
        </p:nvPicPr>
        <p:blipFill>
          <a:blip r:embed="rId3"/>
          <a:stretch>
            <a:fillRect/>
          </a:stretch>
        </p:blipFill>
        <p:spPr>
          <a:xfrm>
            <a:off x="785309" y="1520687"/>
            <a:ext cx="5167876" cy="2425148"/>
          </a:xfrm>
          <a:prstGeom prst="rect">
            <a:avLst/>
          </a:prstGeom>
        </p:spPr>
      </p:pic>
      <p:pic>
        <p:nvPicPr>
          <p:cNvPr id="6" name="Picture 5">
            <a:extLst>
              <a:ext uri="{FF2B5EF4-FFF2-40B4-BE49-F238E27FC236}">
                <a16:creationId xmlns:a16="http://schemas.microsoft.com/office/drawing/2014/main" id="{F87CD359-D020-E265-08D6-8E91E513AF5F}"/>
              </a:ext>
            </a:extLst>
          </p:cNvPr>
          <p:cNvPicPr>
            <a:picLocks noChangeAspect="1"/>
          </p:cNvPicPr>
          <p:nvPr/>
        </p:nvPicPr>
        <p:blipFill>
          <a:blip r:embed="rId4"/>
          <a:stretch>
            <a:fillRect/>
          </a:stretch>
        </p:blipFill>
        <p:spPr>
          <a:xfrm>
            <a:off x="7126356" y="1425995"/>
            <a:ext cx="3319669" cy="2710979"/>
          </a:xfrm>
          <a:prstGeom prst="rect">
            <a:avLst/>
          </a:prstGeom>
        </p:spPr>
      </p:pic>
    </p:spTree>
    <p:extLst>
      <p:ext uri="{BB962C8B-B14F-4D97-AF65-F5344CB8AC3E}">
        <p14:creationId xmlns:p14="http://schemas.microsoft.com/office/powerpoint/2010/main" val="1996661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7CC8344-E2B2-2106-BC9C-8EC9728E3B6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39F4532B-BFE3-52CF-D829-B043059E66DE}"/>
              </a:ext>
            </a:extLst>
          </p:cNvPr>
          <p:cNvSpPr txBox="1">
            <a:spLocks noGrp="1"/>
          </p:cNvSpPr>
          <p:nvPr>
            <p:ph type="title"/>
          </p:nvPr>
        </p:nvSpPr>
        <p:spPr>
          <a:xfrm>
            <a:off x="838200" y="16402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b="1" dirty="0">
                <a:solidFill>
                  <a:srgbClr val="FF0000"/>
                </a:solidFill>
              </a:rPr>
              <a:t>Conclusion</a:t>
            </a:r>
          </a:p>
        </p:txBody>
      </p:sp>
      <p:sp>
        <p:nvSpPr>
          <p:cNvPr id="111" name="Google Shape;111;p4">
            <a:extLst>
              <a:ext uri="{FF2B5EF4-FFF2-40B4-BE49-F238E27FC236}">
                <a16:creationId xmlns:a16="http://schemas.microsoft.com/office/drawing/2014/main" id="{8575D790-3B12-D6B0-DFB3-4F36FC34E500}"/>
              </a:ext>
            </a:extLst>
          </p:cNvPr>
          <p:cNvSpPr txBox="1">
            <a:spLocks noGrp="1"/>
          </p:cNvSpPr>
          <p:nvPr>
            <p:ph type="body" idx="1"/>
          </p:nvPr>
        </p:nvSpPr>
        <p:spPr>
          <a:xfrm>
            <a:off x="838200" y="1083365"/>
            <a:ext cx="10515600" cy="4743857"/>
          </a:xfrm>
          <a:prstGeom prst="rect">
            <a:avLst/>
          </a:prstGeom>
          <a:noFill/>
          <a:ln>
            <a:noFill/>
          </a:ln>
        </p:spPr>
        <p:txBody>
          <a:bodyPr spcFirstLastPara="1" wrap="square" lIns="91425" tIns="45700" rIns="91425" bIns="45700" anchor="t" anchorCtr="0">
            <a:normAutofit fontScale="92500" lnSpcReduction="10000"/>
          </a:bodyPr>
          <a:lstStyle/>
          <a:p>
            <a:pPr lvl="0" indent="-431800">
              <a:buSzPts val="2400"/>
            </a:pPr>
            <a:r>
              <a:rPr lang="en-US" dirty="0"/>
              <a:t>Customer purchasing behavior is not evenly distributed, as a small number of products and customers contribute significantly to total sales.</a:t>
            </a:r>
          </a:p>
          <a:p>
            <a:pPr lvl="0" indent="-431800">
              <a:buSzPts val="2400"/>
            </a:pPr>
            <a:r>
              <a:rPr lang="en-US" dirty="0"/>
              <a:t>Sales performance varies across products, categories, suppliers, and time periods, highlighting opportunities to improve inventory management and marketing strategies.</a:t>
            </a:r>
          </a:p>
          <a:p>
            <a:pPr lvl="0" indent="-431800">
              <a:buSzPts val="2400"/>
            </a:pPr>
            <a:r>
              <a:rPr lang="en-US" dirty="0"/>
              <a:t>Products with higher order frequency and larger order values generate the highest revenue, making them key contributors to business growth.</a:t>
            </a:r>
          </a:p>
          <a:p>
            <a:pPr lvl="0" indent="-431800">
              <a:buSzPts val="2400"/>
            </a:pPr>
            <a:r>
              <a:rPr lang="en-US" dirty="0"/>
              <a:t>Customer demand changes between weekdays and weekends, providing useful insights for planning promotions and managing stock effectively.</a:t>
            </a:r>
          </a:p>
          <a:p>
            <a:pPr lvl="0" indent="-431800">
              <a:buSzPts val="2400"/>
            </a:pPr>
            <a:r>
              <a:rPr lang="en-US" dirty="0"/>
              <a:t>Overall, the analysis demonstrates how SQL can transform raw transactional data into meaningful insights that support better inventory management, customer targeting, pricing decisions, and sales planning.</a:t>
            </a:r>
          </a:p>
        </p:txBody>
      </p:sp>
    </p:spTree>
    <p:extLst>
      <p:ext uri="{BB962C8B-B14F-4D97-AF65-F5344CB8AC3E}">
        <p14:creationId xmlns:p14="http://schemas.microsoft.com/office/powerpoint/2010/main" val="3426793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CFBFA41-9E0C-B689-9C43-46FB515AAD5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1DF17F9C-9E72-45A8-D96F-75E845D8F0C6}"/>
              </a:ext>
            </a:extLst>
          </p:cNvPr>
          <p:cNvSpPr txBox="1">
            <a:spLocks noGrp="1"/>
          </p:cNvSpPr>
          <p:nvPr>
            <p:ph type="title"/>
          </p:nvPr>
        </p:nvSpPr>
        <p:spPr>
          <a:xfrm>
            <a:off x="838200" y="19868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b="1" dirty="0">
                <a:solidFill>
                  <a:srgbClr val="FF0000"/>
                </a:solidFill>
              </a:rPr>
              <a:t>Challenges</a:t>
            </a:r>
          </a:p>
        </p:txBody>
      </p:sp>
      <p:sp>
        <p:nvSpPr>
          <p:cNvPr id="111" name="Google Shape;111;p4">
            <a:extLst>
              <a:ext uri="{FF2B5EF4-FFF2-40B4-BE49-F238E27FC236}">
                <a16:creationId xmlns:a16="http://schemas.microsoft.com/office/drawing/2014/main" id="{F9FC08FC-921C-080B-0284-7AAB23CB3CDA}"/>
              </a:ext>
            </a:extLst>
          </p:cNvPr>
          <p:cNvSpPr txBox="1">
            <a:spLocks noGrp="1"/>
          </p:cNvSpPr>
          <p:nvPr>
            <p:ph type="body" idx="1"/>
          </p:nvPr>
        </p:nvSpPr>
        <p:spPr>
          <a:xfrm>
            <a:off x="697523" y="1524252"/>
            <a:ext cx="10515600" cy="3935771"/>
          </a:xfrm>
          <a:prstGeom prst="rect">
            <a:avLst/>
          </a:prstGeom>
          <a:noFill/>
          <a:ln>
            <a:noFill/>
          </a:ln>
        </p:spPr>
        <p:txBody>
          <a:bodyPr spcFirstLastPara="1" wrap="square" lIns="91425" tIns="45700" rIns="91425" bIns="45700" anchor="t" anchorCtr="0">
            <a:normAutofit/>
          </a:bodyPr>
          <a:lstStyle/>
          <a:p>
            <a:r>
              <a:rPr lang="en-US" sz="2400" dirty="0"/>
              <a:t>Understanding the relationships between different tables and using the correct JOINs to retrieve accurate data.</a:t>
            </a:r>
          </a:p>
          <a:p>
            <a:r>
              <a:rPr lang="en-US" sz="2400" dirty="0"/>
              <a:t>Maintaining data consistency by using Primary Keys and Foreign Keys correctly.</a:t>
            </a:r>
          </a:p>
          <a:p>
            <a:r>
              <a:rPr lang="en-US" sz="2400" dirty="0"/>
              <a:t>Writing GROUP BY and aggregate function queries to summarize and analyze data.</a:t>
            </a:r>
          </a:p>
          <a:p>
            <a:r>
              <a:rPr lang="en-US" sz="2400" dirty="0"/>
              <a:t>Converting date values stored as VARCHAR to analyze sales trends by weekdays, weekends, and months.</a:t>
            </a:r>
          </a:p>
          <a:p>
            <a:r>
              <a:rPr lang="en-US" sz="2400" dirty="0"/>
              <a:t>Debugging SQL errors and verifying that the query results were accurate and matched the project requirements.</a:t>
            </a:r>
          </a:p>
        </p:txBody>
      </p:sp>
    </p:spTree>
    <p:extLst>
      <p:ext uri="{BB962C8B-B14F-4D97-AF65-F5344CB8AC3E}">
        <p14:creationId xmlns:p14="http://schemas.microsoft.com/office/powerpoint/2010/main" val="895754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981</TotalTime>
  <Words>1043</Words>
  <Application>Microsoft Office PowerPoint</Application>
  <PresentationFormat>Widescreen</PresentationFormat>
  <Paragraphs>236</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Libre Baskerville</vt:lpstr>
      <vt:lpstr>Lato Black</vt:lpstr>
      <vt:lpstr>Office Theme</vt:lpstr>
      <vt:lpstr>PowerPoint Presentation</vt:lpstr>
      <vt:lpstr>PowerPoint Presentation</vt:lpstr>
      <vt:lpstr>PowerPoint Presentation</vt:lpstr>
      <vt:lpstr>ER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M.surekha Surekha</cp:lastModifiedBy>
  <cp:revision>12</cp:revision>
  <dcterms:created xsi:type="dcterms:W3CDTF">2021-02-16T05:19:01Z</dcterms:created>
  <dcterms:modified xsi:type="dcterms:W3CDTF">2026-06-27T06:55:29Z</dcterms:modified>
</cp:coreProperties>
</file>